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ef641a45bc94c4a" /><Relationship Type="http://schemas.openxmlformats.org/officeDocument/2006/relationships/extended-properties" Target="/docProps/app.xml" Id="R28e0ed950d08411a" /><Relationship Type="http://schemas.openxmlformats.org/officeDocument/2006/relationships/officeDocument" Target="/ppt/presentation.xml" Id="Rb7b2fa214496411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1a6ecf4b9a14638"/>
  </p:sldMasterIdLst>
  <p:notesMasterIdLst>
    <p:notesMasterId xmlns:r="http://schemas.openxmlformats.org/officeDocument/2006/relationships" r:id="Re1ff0a48fef9451d"/>
  </p:notesMasterIdLst>
  <p:sldIdLst>
    <p:sldId xmlns:r="http://schemas.openxmlformats.org/officeDocument/2006/relationships" id="256" r:id="R81b19bea959a4f30"/>
    <p:sldId xmlns:r="http://schemas.openxmlformats.org/officeDocument/2006/relationships" id="257" r:id="R0edfac2b4d524a3d"/>
    <p:sldId xmlns:r="http://schemas.openxmlformats.org/officeDocument/2006/relationships" id="258" r:id="R5039f1eed3a74947"/>
    <p:sldId xmlns:r="http://schemas.openxmlformats.org/officeDocument/2006/relationships" id="259" r:id="R9a9b6918ebb94295"/>
    <p:sldId xmlns:r="http://schemas.openxmlformats.org/officeDocument/2006/relationships" id="260" r:id="R530f711ffb4a474d"/>
    <p:sldId xmlns:r="http://schemas.openxmlformats.org/officeDocument/2006/relationships" id="261" r:id="R3f731650e9fa4512"/>
    <p:sldId xmlns:r="http://schemas.openxmlformats.org/officeDocument/2006/relationships" id="262" r:id="R3c18b12e5e054791"/>
    <p:sldId xmlns:r="http://schemas.openxmlformats.org/officeDocument/2006/relationships" id="263" r:id="R691f392216224be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18f5b25a2904a9d" /><Relationship Type="http://schemas.openxmlformats.org/officeDocument/2006/relationships/slideMaster" Target="/ppt/slideMasters/slideMaster1.xml" Id="Re1a6ecf4b9a14638" /><Relationship Type="http://schemas.openxmlformats.org/officeDocument/2006/relationships/notesMaster" Target="/ppt/notesMasters/notesMaster1.xml" Id="Re1ff0a48fef9451d" /><Relationship Type="http://schemas.openxmlformats.org/officeDocument/2006/relationships/presProps" Target="/ppt/presProps.xml" Id="R8521486a967b4d1d" /><Relationship Type="http://schemas.openxmlformats.org/officeDocument/2006/relationships/tableStyles" Target="/ppt/tableStyles.xml" Id="R50c5c49093c94b77" /><Relationship Type="http://schemas.openxmlformats.org/officeDocument/2006/relationships/slide" Target="/ppt/slides/slide1.xml" Id="R81b19bea959a4f30" /><Relationship Type="http://schemas.openxmlformats.org/officeDocument/2006/relationships/slide" Target="/ppt/slides/slide2.xml" Id="R0edfac2b4d524a3d" /><Relationship Type="http://schemas.openxmlformats.org/officeDocument/2006/relationships/slide" Target="/ppt/slides/slide3.xml" Id="R5039f1eed3a74947" /><Relationship Type="http://schemas.openxmlformats.org/officeDocument/2006/relationships/slide" Target="/ppt/slides/slide4.xml" Id="R9a9b6918ebb94295" /><Relationship Type="http://schemas.openxmlformats.org/officeDocument/2006/relationships/slide" Target="/ppt/slides/slide5.xml" Id="R530f711ffb4a474d" /><Relationship Type="http://schemas.openxmlformats.org/officeDocument/2006/relationships/slide" Target="/ppt/slides/slide6.xml" Id="R3f731650e9fa4512" /><Relationship Type="http://schemas.openxmlformats.org/officeDocument/2006/relationships/slide" Target="/ppt/slides/slide7.xml" Id="R3c18b12e5e054791" /><Relationship Type="http://schemas.openxmlformats.org/officeDocument/2006/relationships/slide" Target="/ppt/slides/slide8.xml" Id="R691f392216224be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04a9b3d669f442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0fb167245f14a67" /><Relationship Type="http://schemas.openxmlformats.org/officeDocument/2006/relationships/notesMaster" Target="/ppt/notesMasters/notesMaster1.xml" Id="R8e9e9962739348e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ea3dede14e84771" /><Relationship Type="http://schemas.openxmlformats.org/officeDocument/2006/relationships/notesMaster" Target="/ppt/notesMasters/notesMaster1.xml" Id="R169f30b5a3ea4b0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d8aeb672c5040fc" /><Relationship Type="http://schemas.openxmlformats.org/officeDocument/2006/relationships/notesMaster" Target="/ppt/notesMasters/notesMaster1.xml" Id="R3a6d9ed626454a9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54094f3afca45d4" /><Relationship Type="http://schemas.openxmlformats.org/officeDocument/2006/relationships/notesMaster" Target="/ppt/notesMasters/notesMaster1.xml" Id="Rcf30764b7ad2472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a2dcc96cd60499a" /><Relationship Type="http://schemas.openxmlformats.org/officeDocument/2006/relationships/notesMaster" Target="/ppt/notesMasters/notesMaster1.xml" Id="Rbec9d025e3624d3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0e9228752404d3f" /><Relationship Type="http://schemas.openxmlformats.org/officeDocument/2006/relationships/notesMaster" Target="/ppt/notesMasters/notesMaster1.xml" Id="R5ec49917f38f4b3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16757a9e5384d7a" /><Relationship Type="http://schemas.openxmlformats.org/officeDocument/2006/relationships/notesMaster" Target="/ppt/notesMasters/notesMaster1.xml" Id="Rcd4fbd5af9cf432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2b05b0130e24a3f" /><Relationship Type="http://schemas.openxmlformats.org/officeDocument/2006/relationships/notesMaster" Target="/ppt/notesMasters/notesMaster1.xml" Id="Raa789e7fc856435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Presentación del proyecto basada en la consigna oficial del TPO de Ajedrez y en el código del repositorio. El alcance requerido y el opcional se distinguen en la diapositiva 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consigna oficial TPO_Ingenieria de Software_Dominio Ajedrez.docx, secciones de requisitos funcionales y funcionalidades opcionales. La presentación enumera solo funciones verificadas en el código.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deck 1. Unidad 01_ Ingeniería y Diseño, 6 Aug 2026, slides 10–18; consigna oficial sobre independencia del núcleo; implementación en ajedrez/nucleo y ajedrez/adaptadores/consola.py.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código fuente del proyecto y docs/generar_uml.py. El criterio de revisar UML junto con el código aparece en la nota de clase Clase 6 17-09-2026 y en el deck 0.1 Unidad 00_ Tipos de Arquitectura, 17 Sep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implementación de Partida en ajedrez/nucleo/partida.py; clase 10 Sep, deck 4. Unidad 01_ Testing, TDD y TPO, slides 15–20, que trabaja las reglas del ajedrez y el testeo del núcleo.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test test_no_se_puede_capturar_al_rey_rival en tests/test_nucleo.py; implementación de Partida; deck 4. Unidad 01_ Testing, TDD y TPO, 10 Sep 2026, slides 5–9 sobre pruebas del núcleo y TDD.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decisiones observables en el código y documento decisiones-de-diseno.docx; consigna oficial, apartado de justificación; deck 2. Unidad 01_ SOLID, DI y Composition, 20 Aug 2026, slides 2, 9–10 y 18. Los patrones se justifican por su uso concreto, no por obligación.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Unidad 5, Gobernanza de IT: políticas, normativas y gestión de riesgos, diapositivas 19 y 21–22; Unidad 6, Auditoría, métricas, KPIs, ética e integridad, diapositivas 13 y 24–25. Evidencia del proyecto: README.md, ajedrez/nucleo/partida.py y tests/test_nucleo.py. El registro y los indicadores son propuestas para la defensa académica, no métricas de producción.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ccb0b261779439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94e64535324ca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079f78d6183470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de5f303f484b0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b6298ff40e49d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4095e2af09439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F98370D-1166-4675-BD74-E0F75532EC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D5AEF326-3323-40C4-8FA3-A9DC6463967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7EDF1844-F0C5-4975-BF63-C29D81FCACD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72400A1-0443-4948-8636-F251107B35A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8F11F9A-B66A-487A-B7B6-E6DF5E3BC28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EF9460F-7DD9-4C7C-A09C-4BA77D36BB4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F263251-9A78-4AC8-B641-911CCFA30C4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1E8F69D4-D58D-4C7D-AC37-7B5459903E7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0B5413B-3BB8-46DD-9FBF-38A647BE8A0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6D97C52-64B5-44C6-BD49-AACF1BA52B9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cf88cbb96bc4b73" /><Relationship Type="http://schemas.openxmlformats.org/officeDocument/2006/relationships/slideLayout" Target="/ppt/slideLayouts/slideLayout1.xml" Id="R9f8c71cafdd44b55" /><Relationship Type="http://schemas.openxmlformats.org/officeDocument/2006/relationships/slideLayout" Target="/ppt/slideLayouts/slideLayout2.xml" Id="Rdbcfdd277de54b1f" /><Relationship Type="http://schemas.openxmlformats.org/officeDocument/2006/relationships/slideLayout" Target="/ppt/slideLayouts/slideLayout3.xml" Id="R618b06a218094fdd" /><Relationship Type="http://schemas.openxmlformats.org/officeDocument/2006/relationships/slideLayout" Target="/ppt/slideLayouts/slideLayout4.xml" Id="Rfe6ce6bcbc964544" /><Relationship Type="http://schemas.openxmlformats.org/officeDocument/2006/relationships/slideLayout" Target="/ppt/slideLayouts/slideLayout5.xml" Id="Raa731c8f36064b58" /><Relationship Type="http://schemas.openxmlformats.org/officeDocument/2006/relationships/slideLayout" Target="/ppt/slideLayouts/slideLayout6.xml" Id="Rac813d21e73544f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f8c71cafdd44b55"/>
    <p:sldLayoutId xmlns:r="http://schemas.openxmlformats.org/officeDocument/2006/relationships" id="2147483650" r:id="Rdbcfdd277de54b1f"/>
    <p:sldLayoutId xmlns:r="http://schemas.openxmlformats.org/officeDocument/2006/relationships" id="2147483651" r:id="R618b06a218094fdd"/>
    <p:sldLayoutId xmlns:r="http://schemas.openxmlformats.org/officeDocument/2006/relationships" id="2147483652" r:id="Rfe6ce6bcbc964544"/>
    <p:sldLayoutId xmlns:r="http://schemas.openxmlformats.org/officeDocument/2006/relationships" id="2147483653" r:id="Raa731c8f36064b58"/>
    <p:sldLayoutId xmlns:r="http://schemas.openxmlformats.org/officeDocument/2006/relationships" id="2147483654" r:id="Rac813d21e73544f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b6315424d45490c" /><Relationship Type="http://schemas.openxmlformats.org/officeDocument/2006/relationships/notesSlide" Target="/ppt/notesSlides/notesSlide1.xml" Id="R8eed05c4f92f433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22e780263c345d2" /><Relationship Type="http://schemas.openxmlformats.org/officeDocument/2006/relationships/notesSlide" Target="/ppt/notesSlides/notesSlide2.xml" Id="Rb3b8c3bd059a474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a0d6e37b7224340" /><Relationship Type="http://schemas.openxmlformats.org/officeDocument/2006/relationships/notesSlide" Target="/ppt/notesSlides/notesSlide3.xml" Id="Re1fd9f91aa2546c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943d33ca95c4dd1" /><Relationship Type="http://schemas.openxmlformats.org/officeDocument/2006/relationships/notesSlide" Target="/ppt/notesSlides/notesSlide4.xml" Id="R4c37aefb02cb42c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28d32d3eb194fe9" /><Relationship Type="http://schemas.openxmlformats.org/officeDocument/2006/relationships/notesSlide" Target="/ppt/notesSlides/notesSlide5.xml" Id="R80a0e8a3f4104c5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739aa8281d449b7" /><Relationship Type="http://schemas.openxmlformats.org/officeDocument/2006/relationships/notesSlide" Target="/ppt/notesSlides/notesSlide6.xml" Id="Rdc91088ae2c2491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4678cc8a45742bc" /><Relationship Type="http://schemas.openxmlformats.org/officeDocument/2006/relationships/notesSlide" Target="/ppt/notesSlides/notesSlide7.xml" Id="R1bd9ae736e60411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d213012195d44e7" /><Relationship Type="http://schemas.openxmlformats.org/officeDocument/2006/relationships/notesSlide" Target="/ppt/notesSlides/notesSlide8.xml" Id="Re14d5a40a5f24a8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08F89D-3A78-4792-B7F3-A8B56F7CB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7DFE99-C0C2-47F2-846A-D92F0607C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52500"/>
            <a:ext cx="952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TPO de Ajedrez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C8D8FB-B7FF-43B5-9CA6-C015B3512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52625"/>
            <a:ext cx="8096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2250" b="0">
                <a:solidFill>
                  <a:srgbClr val="B8DDE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250" b="0">
                <a:solidFill>
                  <a:srgbClr val="B8DDE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250" b="0">
                <a:solidFill>
                  <a:srgbClr val="B8DDE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250" b="0">
                <a:solidFill>
                  <a:srgbClr val="B8DDE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250" b="0">
                <a:solidFill>
                  <a:srgbClr val="B8DDE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250" b="0">
                <a:solidFill>
                  <a:srgbClr val="B8DDE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250" b="0">
                <a:solidFill>
                  <a:srgbClr val="B8DDE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250" b="0">
                <a:solidFill>
                  <a:srgbClr val="B8DDE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250" b="0">
                <a:solidFill>
                  <a:srgbClr val="B8DDE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250" b="0">
                <a:solidFill>
                  <a:srgbClr val="B8DDE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250" b="0">
                <a:solidFill>
                  <a:srgbClr val="B8DDE0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B8DDE0"/>
                </a:solidFill>
                <a:latin typeface="Arial"/>
                <a:ea typeface="Arial"/>
                <a:cs typeface="Arial"/>
              </a:rPr>
              <a:t>Ingeniería de Software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6DFD72-6FF5-4463-BEE7-2CCBD1BEA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1940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55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D1A804-6411-4E9E-9277-7390D2A21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19450"/>
            <a:ext cx="9429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Reglas claras, núcleo testeable y decisiones justificadas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BBA623-D3CC-4677-A188-80F0B8714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8293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275" b="0">
                <a:solidFill>
                  <a:srgbClr val="C5D0D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75" b="0">
                <a:solidFill>
                  <a:srgbClr val="C5D0D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75" b="0">
                <a:solidFill>
                  <a:srgbClr val="C5D0D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75" b="0">
                <a:solidFill>
                  <a:srgbClr val="C5D0D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75" b="0">
                <a:solidFill>
                  <a:srgbClr val="C5D0D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75" b="0">
                <a:solidFill>
                  <a:srgbClr val="C5D0D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75" b="0">
                <a:solidFill>
                  <a:srgbClr val="C5D0D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75" b="0">
                <a:solidFill>
                  <a:srgbClr val="C5D0D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75" b="0">
                <a:solidFill>
                  <a:srgbClr val="C5D0D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75" b="0">
                <a:solidFill>
                  <a:srgbClr val="C5D0D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C5D0D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5D0D5"/>
                </a:solidFill>
                <a:latin typeface="Arial"/>
                <a:ea typeface="Arial"/>
                <a:cs typeface="Arial"/>
              </a:rPr>
              <a:t>Proyecto académico · 2026</a:t>
            </a:r>
          </a:p>
        </p:txBody>
      </p:sp>
    </p:spTree>
    <p:extLst>
      <p:ext uri="{BB962C8B-B14F-4D97-AF65-F5344CB8AC3E}">
        <p14:creationId xmlns:p14="http://schemas.microsoft.com/office/powerpoint/2010/main" val="161811395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5EF0C0-7F01-4619-9660-4C65F6B89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EEA6F1-A829-4C8A-99D0-85B232080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Alcance del proyecto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8B85FF-963C-4FAA-B67F-05DE36839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763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510CF4-D7E8-4D48-8DF5-E8221DF9B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29375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A3A3A"/>
                </a:solidFill>
                <a:latin typeface="Arial"/>
                <a:ea typeface="Arial"/>
                <a:cs typeface="Arial"/>
              </a:rPr>
              <a:t>02  ·  TPO AJEDREZ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901BA0-09CC-484F-BD8F-E3FA04F05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47800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Requisitos obligatorios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98E592-96AE-44C1-A86D-1F8DCCD73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38350"/>
            <a:ext cx="4857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Tablero 8×8 y seis piezas</a:t>
            </a:r>
          </a:p>
          <a:p xmlns:a="http://schemas.openxmlformats.org/drawingml/2006/main">
            <a:pPr>
              <a:buNone/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Reglas de movimiento y capturas</a:t>
            </a:r>
          </a:p>
          <a:p xmlns:a="http://schemas.openxmlformats.org/drawingml/2006/main">
            <a:pPr>
              <a:buNone/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Turnos alternados</a:t>
            </a:r>
          </a:p>
          <a:p xmlns:a="http://schemas.openxmlformats.org/drawingml/2006/main">
            <a:pPr>
              <a:buNone/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Rechazo de jugadas inválidas</a:t>
            </a:r>
          </a:p>
          <a:p xmlns:a="http://schemas.openxmlformats.org/drawingml/2006/main">
            <a:pPr>
              <a:buNone/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Detección de jaque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E5CCEF-1381-40AE-9AF6-6BA5CC4BA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447800"/>
            <a:ext cx="19050" cy="38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2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40BD2A-9832-4908-8BA1-7495A3A62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447800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2025" b="1">
                <a:solidFill>
                  <a:srgbClr val="55555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025" b="1">
                <a:solidFill>
                  <a:srgbClr val="55555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025" b="1">
                <a:solidFill>
                  <a:srgbClr val="55555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025" b="1">
                <a:solidFill>
                  <a:srgbClr val="55555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025" b="1">
                <a:solidFill>
                  <a:srgbClr val="55555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025" b="1">
                <a:solidFill>
                  <a:srgbClr val="55555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025" b="1">
                <a:solidFill>
                  <a:srgbClr val="55555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025" b="1">
                <a:solidFill>
                  <a:srgbClr val="55555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025" b="1">
                <a:solidFill>
                  <a:srgbClr val="55555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025" b="1">
                <a:solidFill>
                  <a:srgbClr val="55555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025" b="1">
                <a:solidFill>
                  <a:srgbClr val="555555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555555"/>
                </a:solidFill>
                <a:latin typeface="Arial"/>
                <a:ea typeface="Arial"/>
                <a:cs typeface="Arial"/>
              </a:rPr>
              <a:t>Implementado además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F70EC6-6A32-4C9C-8B75-AD0F4B68D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038350"/>
            <a:ext cx="4762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Jaque mate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Ampliaciones opcionales que no se atribuyen a esta versión: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Enroque · captura al paso · promoción · tablas · IA · deshacer/rehacer · interfaz gráfica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336C99-6052-44DC-8AEB-6714F3E5B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09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42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42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42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42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42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42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42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42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42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42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42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3A3A3A"/>
                </a:solidFill>
                <a:latin typeface="Arial"/>
                <a:ea typeface="Arial"/>
                <a:cs typeface="Arial"/>
              </a:rPr>
              <a:t>La consigna permite estas ampliaciones; no las convierte en condiciones de aprobación.</a:t>
            </a:r>
          </a:p>
        </p:txBody>
      </p:sp>
    </p:spTree>
    <p:extLst>
      <p:ext uri="{BB962C8B-B14F-4D97-AF65-F5344CB8AC3E}">
        <p14:creationId xmlns:p14="http://schemas.microsoft.com/office/powerpoint/2010/main" val="54067399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73324A-4087-45F2-B75C-87EFF4E9A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023EB1-029E-4142-B21C-5E84036EA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Arquitectura del núcleo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B0A7B6-04C5-4F21-803E-865BE9D08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763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CAFEFB-95A9-4FB2-90C1-2EBD7E579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29375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A3A3A"/>
                </a:solidFill>
                <a:latin typeface="Arial"/>
                <a:ea typeface="Arial"/>
                <a:cs typeface="Arial"/>
              </a:rPr>
              <a:t>03  ·  TPO AJEDREZ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5C74BB-94AB-4945-9552-98CA94B62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362075"/>
            <a:ext cx="10287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72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72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72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72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72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72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72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72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72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72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3A3A3A"/>
                </a:solidFill>
                <a:latin typeface="Arial"/>
                <a:ea typeface="Arial"/>
                <a:cs typeface="Arial"/>
              </a:rPr>
              <a:t>La consola traduce entradas. El núcleo decide si una jugada es válida.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0116B2-57D2-4C0E-80BE-E9B6E7897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286000"/>
            <a:ext cx="34290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1145B1-DB0D-483F-8450-21601D188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552700"/>
            <a:ext cx="2809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Adaptador de consola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5A84BB-6C40-4273-956C-C7AED05C4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24200"/>
            <a:ext cx="2762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Lee coordenadas</a:t>
            </a:r>
          </a:p>
          <a:p xmlns:a="http://schemas.openxmlformats.org/drawingml/2006/main">
            <a: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Muestra tablero y mensajes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C5A016-F220-4127-9D2D-D9FEA726F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2286000"/>
            <a:ext cx="34290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E4B54E-7750-47EA-AD9E-C1F213930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552700"/>
            <a:ext cx="2809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Núcleo de ajedrez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955F2C-5E47-4FDA-BF78-A81ED07DB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124200"/>
            <a:ext cx="28098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Partida · Tablero · Piezas</a:t>
            </a:r>
          </a:p>
          <a:p xmlns:a="http://schemas.openxmlformats.org/drawingml/2006/main">
            <a: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Movimientos · Jaque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2A5E54-4938-4155-8A88-278C9EA89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3086100"/>
            <a:ext cx="2762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55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18F00C-E427-4878-98A1-0BE8E72DE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26479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27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7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7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7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7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7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7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7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7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7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7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A3A3A"/>
                </a:solidFill>
                <a:latin typeface="Arial"/>
                <a:ea typeface="Arial"/>
                <a:cs typeface="Arial"/>
              </a:rPr>
              <a:t>entrada / resultado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B270A3-2E54-47E5-84B9-54B1FA965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48250"/>
            <a:ext cx="1028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Las dependencias del dominio no apuntan a la consola. Por eso el núcleo se prueba sin interfaz.</a:t>
            </a:r>
          </a:p>
        </p:txBody>
      </p:sp>
    </p:spTree>
    <p:extLst>
      <p:ext uri="{BB962C8B-B14F-4D97-AF65-F5344CB8AC3E}">
        <p14:creationId xmlns:p14="http://schemas.microsoft.com/office/powerpoint/2010/main" val="168640468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ABBA02F-F9A9-4589-9114-A6E4D0E4D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BE8809-0E0D-4C17-815A-5962B66AC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UML y código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67E604-5F13-42E9-AABE-DF8DEEF71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763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EACA08-F9E7-47E7-A274-5AF0FFB2F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29375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A3A3A"/>
                </a:solidFill>
                <a:latin typeface="Arial"/>
                <a:ea typeface="Arial"/>
                <a:cs typeface="Arial"/>
              </a:rPr>
              <a:t>04  ·  TPO AJEDREZ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3836D8-5AD7-4966-A37C-823EB648B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304925"/>
            <a:ext cx="1028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6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6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6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6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6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6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6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6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6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6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3A3A3A"/>
                </a:solidFill>
                <a:latin typeface="Arial"/>
                <a:ea typeface="Arial"/>
                <a:cs typeface="Arial"/>
              </a:rPr>
              <a:t>Fragmento de clases; el UML completo está en docs/diagrama_clases.svg.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1F32F5-0ACF-443F-BFA6-071C10E91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76450"/>
            <a:ext cx="28575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302A89-A9EA-4802-9F57-970A5A4EC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22885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Partida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5D7DC6-7790-4E10-8695-09033FA69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647950"/>
            <a:ext cx="2400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turno · historial</a:t>
            </a:r>
          </a:p>
          <a:p xmlns:a="http://schemas.openxmlformats.org/drawingml/2006/main">
            <a: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valida y ejecuta jugadas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D4DC72-9809-4357-9C67-A2369E745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076450"/>
            <a:ext cx="28575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6167F7-FDC3-4475-88C3-637C15FAC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22885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Tablero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ABD503-E95D-4574-8C58-87936F882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647950"/>
            <a:ext cx="2400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posiciones → piezas</a:t>
            </a:r>
          </a:p>
          <a:p xmlns:a="http://schemas.openxmlformats.org/drawingml/2006/main">
            <a: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consulta y mueve piezas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8ACF0A-8B7F-4ECF-8D05-6D83B153F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076450"/>
            <a:ext cx="28575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97C84A-EC2B-41AF-B0F6-9EF22EFF3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22885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Catálogo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1DFC1B-5881-4A26-89C5-06444B50F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647950"/>
            <a:ext cx="2400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crea piezas por nombre</a:t>
            </a:r>
          </a:p>
          <a:p xmlns:a="http://schemas.openxmlformats.org/drawingml/2006/main">
            <a: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permite registrar tipos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4B8EBC-112B-43A7-9F37-B65572A09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095750"/>
            <a:ext cx="28575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89B95D-0AA0-4684-899F-A1060765D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24815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Pieza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9530BC-29D3-4790-B960-6908F51D5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667250"/>
            <a:ext cx="2400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se mueve y ataca</a:t>
            </a:r>
          </a:p>
          <a:p xmlns:a="http://schemas.openxmlformats.org/drawingml/2006/main">
            <a: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compone reglas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A40C8A-DBF2-432F-AC71-AA4BD9200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095750"/>
            <a:ext cx="28575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BA0A99-4482-4B36-8D30-4C496DCFE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248150"/>
            <a:ext cx="2400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ReglaDeMovimiento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BF2056-0821-4E93-B4DC-15BB042B7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667250"/>
            <a:ext cx="2400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deslizante · salto</a:t>
            </a:r>
          </a:p>
          <a:p xmlns:a="http://schemas.openxmlformats.org/drawingml/2006/main">
            <a: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avance de peón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F76DF78-10F2-4FF3-A046-9439FE085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686050"/>
            <a:ext cx="933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55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52AFDF7-F660-4CBA-A4EB-12F3EEED1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686050"/>
            <a:ext cx="933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55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12B67C7-3A90-47FD-826B-2214F65F5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390900"/>
            <a:ext cx="19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D5B7A06-370B-430F-B485-3DAADC551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714750"/>
            <a:ext cx="1924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86A93EB-D233-4192-9ED3-F6A3B02C5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714750"/>
            <a:ext cx="190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9C3C7C8-A3E2-4A62-BC93-7A4F85BA5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724400"/>
            <a:ext cx="933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55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69A64D1-679B-4FA2-B5B0-6F2ED24C3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24479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A3A3A"/>
                </a:solidFill>
                <a:latin typeface="Arial"/>
                <a:ea typeface="Arial"/>
                <a:cs typeface="Arial"/>
              </a:rPr>
              <a:t>usa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49B90B9-0730-426C-BC69-3DBD1291F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4479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A3A3A"/>
                </a:solidFill>
                <a:latin typeface="Arial"/>
                <a:ea typeface="Arial"/>
                <a:cs typeface="Arial"/>
              </a:rPr>
              <a:t>usa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2ECE25D-B1EF-4DEC-85C7-59C15CE35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476625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A3A3A"/>
                </a:solidFill>
                <a:latin typeface="Arial"/>
                <a:ea typeface="Arial"/>
                <a:cs typeface="Arial"/>
              </a:rPr>
              <a:t>contiene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AB8FD1B-08D9-41AC-B92A-134BF39E5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43865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A3A3A"/>
                </a:solidFill>
                <a:latin typeface="Arial"/>
                <a:ea typeface="Arial"/>
                <a:cs typeface="Arial"/>
              </a:rPr>
              <a:t>combina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5EA3D75-AA72-467D-87DE-2B8D81CAC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9055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27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7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7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7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7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7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7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7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7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7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3A3A3A"/>
                </a:solidFill>
                <a:latin typeface="Arial"/>
                <a:ea typeface="Arial"/>
                <a:cs typeface="Arial"/>
              </a:rPr>
              <a:t>El diagrama completo se regenera desde el código con docs/generar_uml.py.</a:t>
            </a:r>
          </a:p>
        </p:txBody>
      </p:sp>
    </p:spTree>
    <p:extLst>
      <p:ext uri="{BB962C8B-B14F-4D97-AF65-F5344CB8AC3E}">
        <p14:creationId xmlns:p14="http://schemas.microsoft.com/office/powerpoint/2010/main" val="98838911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218AC9-9A5B-4E8E-A19E-3E34B662E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6EA8C3-AC7F-4C52-969D-B93336CD4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Cómo se valida una jugada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F2D6FB-2AFF-4A19-8D29-61BE2012A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763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6DD274-712E-41B0-9691-AAB49EB49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29375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A3A3A"/>
                </a:solidFill>
                <a:latin typeface="Arial"/>
                <a:ea typeface="Arial"/>
                <a:cs typeface="Arial"/>
              </a:rPr>
              <a:t>05  ·  TPO AJEDREZ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21CBC4-6AB5-4FC2-A400-683D0625B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76375"/>
            <a:ext cx="742950" cy="685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BD9BC8-19A2-42FA-AF78-5100F208B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76375"/>
            <a:ext cx="742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25C387-3E49-4FC2-901F-74306BFF3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1457325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Pieza y turno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D91FEB-9514-4984-AB0B-C72020971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1781175"/>
            <a:ext cx="909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3A3A3A"/>
                </a:solidFill>
                <a:latin typeface="Arial"/>
                <a:ea typeface="Arial"/>
                <a:cs typeface="Arial"/>
              </a:rPr>
              <a:t>¿Hay una pieza propia en el origen?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FBE7FE-B042-4886-880D-06CD0F1E8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43175"/>
            <a:ext cx="742950" cy="685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44AB31-E941-4AE3-B4B1-884EFF71E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43175"/>
            <a:ext cx="742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29A0B7-583F-443C-AB20-D955FA593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2524125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Movimiento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51D887-A25C-4A06-B9B7-F4C12FA7B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2847975"/>
            <a:ext cx="909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3A3A3A"/>
                </a:solidFill>
                <a:latin typeface="Arial"/>
                <a:ea typeface="Arial"/>
                <a:cs typeface="Arial"/>
              </a:rPr>
              <a:t>¿El destino respeta su patrón y el camino?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95B529-5ACB-47A0-9807-3AD2666E6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09975"/>
            <a:ext cx="742950" cy="685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22AA62-603E-427E-887A-0CBCA2331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09975"/>
            <a:ext cx="742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121342-B600-400F-BB52-66F5B95E4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590925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Seguridad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28A65C-A262-4DF4-B7CB-55B897C77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914775"/>
            <a:ext cx="909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3A3A3A"/>
                </a:solidFill>
                <a:latin typeface="Arial"/>
                <a:ea typeface="Arial"/>
                <a:cs typeface="Arial"/>
              </a:rPr>
              <a:t>¿La jugada deja al rey propio a salvo?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6FB7DB-68AF-47E0-AD1F-59B601570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676775"/>
            <a:ext cx="742950" cy="685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7C800C3-8905-4E9C-B674-F0C58AFFB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676775"/>
            <a:ext cx="742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5D84A33-3E82-48B5-A371-2975E577B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657725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Estado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0864E59-3820-4349-A8E8-C9B916CA5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981575"/>
            <a:ext cx="909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3A3A3A"/>
                </a:solidFill>
                <a:latin typeface="Arial"/>
                <a:ea typeface="Arial"/>
                <a:cs typeface="Arial"/>
              </a:rPr>
              <a:t>Mover, registrar captura, cambiar turno y revisar jaque.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9B78BEA-1CC1-44C1-97DF-E9A668EDB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7912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La seguridad se comprueba sobre una copia del tablero; un intento inválido no altera la partida.</a:t>
            </a:r>
          </a:p>
        </p:txBody>
      </p:sp>
    </p:spTree>
    <p:extLst>
      <p:ext uri="{BB962C8B-B14F-4D97-AF65-F5344CB8AC3E}">
        <p14:creationId xmlns:p14="http://schemas.microsoft.com/office/powerpoint/2010/main" val="111550213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8AFB0D-1310-4153-A023-A0F8CD8F7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531463-396A-4C98-BE40-D1B389ABD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Corrección y evidencia de pruebas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C91DCA-EA10-43D7-9058-1BB0576D7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763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207BA1-5432-429A-A819-4AD474EB5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29375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A3A3A"/>
                </a:solidFill>
                <a:latin typeface="Arial"/>
                <a:ea typeface="Arial"/>
                <a:cs typeface="Arial"/>
              </a:rPr>
              <a:t>06  ·  TPO AJEDREZ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0A8BF1-F27E-49F8-BF82-22E0B492B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62100"/>
            <a:ext cx="2476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6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6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6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6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6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6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6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6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6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6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6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6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378F6B-7BA6-4ED3-8157-82520AB8D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6225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tests aprobados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82AE22-6D06-44B4-A992-A74BD8EF6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562100"/>
            <a:ext cx="685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8850"/>
          </a:bodyPr>
          <a:lstStyle xmlns:a="http://schemas.openxmlformats.org/drawingml/2006/main">
            <a:defPPr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La prueba nueva encontró el defecto antes de corregirlo.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671161-559B-4CE5-B09C-66504B102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266950"/>
            <a:ext cx="685800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Antes: la torre podía incluir la casilla del rey rival como destino legal.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Ahora: el rey no puede capturarse; jaque mate determina el final.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La prueba verifica que el movimiento se rechaza, el rey permanece y no cambian turno ni historial.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477ED8-EA80-40E9-BBF3-A6D9BB8CB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81600"/>
            <a:ext cx="100488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2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0733D6-D045-443F-B0BA-78C406020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4830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Verificación reproducible: python -m unittest -v</a:t>
            </a:r>
          </a:p>
        </p:txBody>
      </p:sp>
    </p:spTree>
    <p:extLst>
      <p:ext uri="{BB962C8B-B14F-4D97-AF65-F5344CB8AC3E}">
        <p14:creationId xmlns:p14="http://schemas.microsoft.com/office/powerpoint/2010/main" val="141674325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D1D3BC-0DA2-49A6-BD08-6516486F4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4C7474-DA8F-4039-91FD-6172D95F3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Decisiones que podemos defender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F8C5DC-28BD-4F35-9862-CF887B8CD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763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86B99C-A28B-44AB-BFCD-893EEE760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29375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A3A3A"/>
                </a:solidFill>
                <a:latin typeface="Arial"/>
                <a:ea typeface="Arial"/>
                <a:cs typeface="Arial"/>
              </a:rPr>
              <a:t>07  ·  TPO AJEDREZ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6C3F56-193C-40FE-B482-D97DAF381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5735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Separar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505B3C-9460-4B37-B295-FD4F6714D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238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Reglas aparte de entrada/salida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3D02D9-E550-4CC6-8FA9-CF0DCE3C2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57500"/>
            <a:ext cx="2381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3A3A3A"/>
                </a:solidFill>
                <a:latin typeface="Arial"/>
                <a:ea typeface="Arial"/>
                <a:cs typeface="Arial"/>
              </a:rPr>
              <a:t>Permite probar el dominio sin consola.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06EE21-2D6F-40D6-A400-079A0C512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165735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Componer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65F54F-92AE-4449-BD2E-DDA4B181F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2095500"/>
            <a:ext cx="238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Piezas con reglas de movimiento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2542C6-E146-4D3A-9FC4-9780D68A8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2857500"/>
            <a:ext cx="2381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3A3A3A"/>
                </a:solidFill>
                <a:latin typeface="Arial"/>
                <a:ea typeface="Arial"/>
                <a:cs typeface="Arial"/>
              </a:rPr>
              <a:t>Reutiliza comportamientos y facilita extensiones.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C8A761-A76B-44F8-A115-5AB6E3A58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65735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Inyectar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DF5F45-3816-46F4-A65F-03F25581A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95500"/>
            <a:ext cx="238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Catálogo y disposición inicial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65ACCB-9D9A-4DB3-B6DA-EA0C05904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57500"/>
            <a:ext cx="2381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3A3A3A"/>
                </a:solidFill>
                <a:latin typeface="Arial"/>
                <a:ea typeface="Arial"/>
                <a:cs typeface="Arial"/>
              </a:rPr>
              <a:t>Hace explícitas las variantes y simplifica pruebas.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16549B-8A46-44DC-B410-EAAAC6145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025" y="165735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Simular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1C1CF1-CD72-4762-965C-001B574DC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025" y="2095500"/>
            <a:ext cx="238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Probar el movimiento en una copia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B6D7B4-F53C-4600-82AA-71964096A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025" y="2857500"/>
            <a:ext cx="2381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3A3A3A"/>
                </a:solidFill>
                <a:latin typeface="Arial"/>
                <a:ea typeface="Arial"/>
                <a:cs typeface="Arial"/>
              </a:rPr>
              <a:t>Evita alterar el estado real al validar.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048455-A691-4E5F-AE6E-D9D5CCD62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62450"/>
            <a:ext cx="10382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2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301414-6A3E-439A-ADE5-D826AD878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62500"/>
            <a:ext cx="1028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Cada decisión tiene un costo y un límite; el detalle completo está en la justificación.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0622EF-6DE1-4252-9C7C-FC757E127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91150"/>
            <a:ext cx="1028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La consigna pide explicar qué elegimos, por qué y cuándo dejaría de convenir.</a:t>
            </a:r>
          </a:p>
        </p:txBody>
      </p:sp>
    </p:spTree>
    <p:extLst>
      <p:ext uri="{BB962C8B-B14F-4D97-AF65-F5344CB8AC3E}">
        <p14:creationId xmlns:p14="http://schemas.microsoft.com/office/powerpoint/2010/main" val="137753946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left-rail">
            <a:extLst xmlns:a="http://schemas.openxmlformats.org/drawingml/2006/main">
              <a:ext uri="{FF2B5EF4-FFF2-40B4-BE49-F238E27FC236}">
                <a16:creationId xmlns:a16="http://schemas.microsoft.com/office/drawing/2014/main" id="{C4C54ED0-41D6-425D-BFD7-D3454070C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BAEB73B-E89D-4A51-B5C7-DC1AC881A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Riesgos y seguimiento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D966650D-DF02-4CF1-BB83-030F90BF7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763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risk-heading">
            <a:extLst xmlns:a="http://schemas.openxmlformats.org/drawingml/2006/main">
              <a:ext uri="{FF2B5EF4-FFF2-40B4-BE49-F238E27FC236}">
                <a16:creationId xmlns:a16="http://schemas.microsoft.com/office/drawing/2014/main" id="{26A9D80B-53F3-451A-AFC4-0C2790781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09700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Riesgos principales</a:t>
            </a:r>
          </a:p>
        </p:txBody>
      </p:sp>
      <p:sp>
        <p:nvSpPr>
          <p:cNvPr id="5" name="risk-key">
            <a:extLst xmlns:a="http://schemas.openxmlformats.org/drawingml/2006/main">
              <a:ext uri="{FF2B5EF4-FFF2-40B4-BE49-F238E27FC236}">
                <a16:creationId xmlns:a16="http://schemas.microsoft.com/office/drawing/2014/main" id="{5C48C859-0A85-47CC-A748-C5E9FAECE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526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200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P = probabilidad · I = impacto</a:t>
            </a:r>
          </a:p>
        </p:txBody>
      </p:sp>
      <p:sp>
        <p:nvSpPr>
          <p:cNvPr id="6" name="risk-list">
            <a:extLst xmlns:a="http://schemas.openxmlformats.org/drawingml/2006/main">
              <a:ext uri="{FF2B5EF4-FFF2-40B4-BE49-F238E27FC236}">
                <a16:creationId xmlns:a16="http://schemas.microsoft.com/office/drawing/2014/main" id="{7D08D77A-EFB8-42F1-A6E5-2CDAE532F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57400"/>
            <a:ext cx="4810125" cy="3333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3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Reglas incorrectas — P media / I alta: pruebas por requisito.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Tests débiles — P media / I alta: revisar las aserciones.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Pérdida de código — P baja / I alta: repositorio remoto y suite final.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Conocimiento concentrado — P media / I media: revisión compartida.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Clave expuesta — P baja hoy / I alta: no integrar IA.</a:t>
            </a:r>
          </a:p>
        </p:txBody>
      </p:sp>
      <p:sp>
        <p:nvSpPr>
          <p:cNvPr id="7" name="column-divider">
            <a:extLst xmlns:a="http://schemas.openxmlformats.org/drawingml/2006/main">
              <a:ext uri="{FF2B5EF4-FFF2-40B4-BE49-F238E27FC236}">
                <a16:creationId xmlns:a16="http://schemas.microsoft.com/office/drawing/2014/main" id="{283EDB14-B899-4058-8233-3E75DE3B2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1409700"/>
            <a:ext cx="14288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metrics-heading">
            <a:extLst xmlns:a="http://schemas.openxmlformats.org/drawingml/2006/main">
              <a:ext uri="{FF2B5EF4-FFF2-40B4-BE49-F238E27FC236}">
                <a16:creationId xmlns:a16="http://schemas.microsoft.com/office/drawing/2014/main" id="{19626D26-2A00-46D4-B355-C9ED56911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409700"/>
            <a:ext cx="5000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Meta e indicadores</a:t>
            </a:r>
          </a:p>
        </p:txBody>
      </p:sp>
      <p:sp>
        <p:nvSpPr>
          <p:cNvPr id="9" name="goal">
            <a:extLst xmlns:a="http://schemas.openxmlformats.org/drawingml/2006/main">
              <a:ext uri="{FF2B5EF4-FFF2-40B4-BE49-F238E27FC236}">
                <a16:creationId xmlns:a16="http://schemas.microsoft.com/office/drawing/2014/main" id="{28615166-F47A-4FDE-8CFA-2D3CDBF02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885950"/>
            <a:ext cx="5000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425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Meta: cumplir los requisitos obligatorios y poder verificarlo.</a:t>
            </a:r>
          </a:p>
        </p:txBody>
      </p:sp>
      <p:sp>
        <p:nvSpPr>
          <p:cNvPr id="10" name="metrics-list">
            <a:extLst xmlns:a="http://schemas.openxmlformats.org/drawingml/2006/main">
              <a:ext uri="{FF2B5EF4-FFF2-40B4-BE49-F238E27FC236}">
                <a16:creationId xmlns:a16="http://schemas.microsoft.com/office/drawing/2014/main" id="{528CCCC9-86E5-4FC6-890C-163E84AA0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28875"/>
            <a:ext cx="5000625" cy="3095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275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1. Cobertura: requisitos con test significativo / requisitos obligatorios × 100.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2. Suite: pruebas aprobadas / pruebas ejecutadas × 100. Última verificación: 37/37.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3. Revisión: cambios del núcleo revisados y probados / cambios del núcleo × 100.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KRI: requisitos fallidos o sin prueba significativa. Alerta si el valor supera cero.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Goodhart: no premiar la cantidad de tests; revisar qué comportamiento comprueba cada uno.</a:t>
            </a:r>
          </a:p>
        </p:txBody>
      </p:sp>
      <p:sp>
        <p:nvSpPr>
          <p:cNvPr id="11" name="policy-rule">
            <a:extLst xmlns:a="http://schemas.openxmlformats.org/drawingml/2006/main">
              <a:ext uri="{FF2B5EF4-FFF2-40B4-BE49-F238E27FC236}">
                <a16:creationId xmlns:a16="http://schemas.microsoft.com/office/drawing/2014/main" id="{6A3B6D69-FA58-4CDF-BE1C-47AC17F10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715000"/>
            <a:ext cx="10477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ai-policy">
            <a:extLst xmlns:a="http://schemas.openxmlformats.org/drawingml/2006/main">
              <a:ext uri="{FF2B5EF4-FFF2-40B4-BE49-F238E27FC236}">
                <a16:creationId xmlns:a16="http://schemas.microsoft.com/office/drawing/2014/main" id="{35D81E00-D2D1-44BC-87AA-42E62C0A5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67400"/>
            <a:ext cx="1038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2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IA: no se integra en esta versión. El código asistido se entiende, revisa y prueba; no se comparten secretos ni datos personales.</a:t>
            </a:r>
          </a:p>
        </p:txBody>
      </p:sp>
      <p:sp>
        <p:nvSpPr>
          <p:cNvPr id="13" name="footer">
            <a:extLst xmlns:a="http://schemas.openxmlformats.org/drawingml/2006/main">
              <a:ext uri="{FF2B5EF4-FFF2-40B4-BE49-F238E27FC236}">
                <a16:creationId xmlns:a16="http://schemas.microsoft.com/office/drawing/2014/main" id="{49554790-A20B-4965-AC07-D44C9B93D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29375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A3A3A"/>
                </a:solidFill>
                <a:latin typeface="Arial"/>
                <a:ea typeface="Arial"/>
                <a:cs typeface="Arial"/>
              </a:rPr>
              <a:t>08  ·  TPO AJEDREZ</a:t>
            </a:r>
          </a:p>
        </p:txBody>
      </p:sp>
    </p:spTree>
    <p:extLst>
      <p:ext uri="{BB962C8B-B14F-4D97-AF65-F5344CB8AC3E}">
        <p14:creationId xmlns:p14="http://schemas.microsoft.com/office/powerpoint/2010/main" val="198901798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2026-10-23T01:35:19.7340000Z</dcterms:created>
  <dcterms:modified xsi:type="dcterms:W3CDTF">2026-10-23T01:35:19.7340000Z</dcterms:modified>
</coreProperties>
</file>