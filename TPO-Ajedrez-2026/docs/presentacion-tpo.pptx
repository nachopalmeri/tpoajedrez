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7b6ba511524cbd" /><Relationship Type="http://schemas.openxmlformats.org/officeDocument/2006/relationships/extended-properties" Target="/docProps/app.xml" Id="R8bb116ff0a5641b0" /><Relationship Type="http://schemas.openxmlformats.org/officeDocument/2006/relationships/officeDocument" Target="/ppt/presentation.xml" Id="R19578ff0016646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b02a96530e427e"/>
  </p:sldMasterIdLst>
  <p:notesMasterIdLst>
    <p:notesMasterId xmlns:r="http://schemas.openxmlformats.org/officeDocument/2006/relationships" r:id="R092efcb379c04d6f"/>
  </p:notesMasterIdLst>
  <p:sldIdLst>
    <p:sldId xmlns:r="http://schemas.openxmlformats.org/officeDocument/2006/relationships" id="256" r:id="R81c5c5779ba44ece"/>
    <p:sldId xmlns:r="http://schemas.openxmlformats.org/officeDocument/2006/relationships" id="257" r:id="R07245c2b4c814986"/>
    <p:sldId xmlns:r="http://schemas.openxmlformats.org/officeDocument/2006/relationships" id="258" r:id="Re1ed2780fa3c4a35"/>
    <p:sldId xmlns:r="http://schemas.openxmlformats.org/officeDocument/2006/relationships" id="259" r:id="R31e2d57a252b486b"/>
    <p:sldId xmlns:r="http://schemas.openxmlformats.org/officeDocument/2006/relationships" id="260" r:id="R581cc45c5d4440ae"/>
    <p:sldId xmlns:r="http://schemas.openxmlformats.org/officeDocument/2006/relationships" id="261" r:id="R0b1e934971064b22"/>
    <p:sldId xmlns:r="http://schemas.openxmlformats.org/officeDocument/2006/relationships" id="262" r:id="R06e3c2bf105446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294960918d4ee3" /><Relationship Type="http://schemas.openxmlformats.org/officeDocument/2006/relationships/slideMaster" Target="/ppt/slideMasters/slideMaster1.xml" Id="Ra5b02a96530e427e" /><Relationship Type="http://schemas.openxmlformats.org/officeDocument/2006/relationships/notesMaster" Target="/ppt/notesMasters/notesMaster1.xml" Id="R092efcb379c04d6f" /><Relationship Type="http://schemas.openxmlformats.org/officeDocument/2006/relationships/presProps" Target="/ppt/presProps.xml" Id="Rfeb853e3dae24cb9" /><Relationship Type="http://schemas.openxmlformats.org/officeDocument/2006/relationships/tableStyles" Target="/ppt/tableStyles.xml" Id="R4613d6e3afe4490b" /><Relationship Type="http://schemas.openxmlformats.org/officeDocument/2006/relationships/slide" Target="/ppt/slides/slide1.xml" Id="R81c5c5779ba44ece" /><Relationship Type="http://schemas.openxmlformats.org/officeDocument/2006/relationships/slide" Target="/ppt/slides/slide2.xml" Id="R07245c2b4c814986" /><Relationship Type="http://schemas.openxmlformats.org/officeDocument/2006/relationships/slide" Target="/ppt/slides/slide3.xml" Id="Re1ed2780fa3c4a35" /><Relationship Type="http://schemas.openxmlformats.org/officeDocument/2006/relationships/slide" Target="/ppt/slides/slide4.xml" Id="R31e2d57a252b486b" /><Relationship Type="http://schemas.openxmlformats.org/officeDocument/2006/relationships/slide" Target="/ppt/slides/slide5.xml" Id="R581cc45c5d4440ae" /><Relationship Type="http://schemas.openxmlformats.org/officeDocument/2006/relationships/slide" Target="/ppt/slides/slide6.xml" Id="R0b1e934971064b22" /><Relationship Type="http://schemas.openxmlformats.org/officeDocument/2006/relationships/slide" Target="/ppt/slides/slide7.xml" Id="R06e3c2bf105446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9b07f1905645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4d15209b4d4b72" /><Relationship Type="http://schemas.openxmlformats.org/officeDocument/2006/relationships/notesMaster" Target="/ppt/notesMasters/notesMaster1.xml" Id="Rc6ca37bbcbe34a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0b2d78d9774241" /><Relationship Type="http://schemas.openxmlformats.org/officeDocument/2006/relationships/notesMaster" Target="/ppt/notesMasters/notesMaster1.xml" Id="R569e168168f842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90696e3283483e" /><Relationship Type="http://schemas.openxmlformats.org/officeDocument/2006/relationships/notesMaster" Target="/ppt/notesMasters/notesMaster1.xml" Id="R903e6126b71042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7eb20bfa6a41b7" /><Relationship Type="http://schemas.openxmlformats.org/officeDocument/2006/relationships/notesMaster" Target="/ppt/notesMasters/notesMaster1.xml" Id="Ra0203c0735cd41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f184793c164164" /><Relationship Type="http://schemas.openxmlformats.org/officeDocument/2006/relationships/notesMaster" Target="/ppt/notesMasters/notesMaster1.xml" Id="R18da2689a36f45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698c0e8d8e4e04" /><Relationship Type="http://schemas.openxmlformats.org/officeDocument/2006/relationships/notesMaster" Target="/ppt/notesMasters/notesMaster1.xml" Id="Rb17b72904ce842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d1584034514ab4" /><Relationship Type="http://schemas.openxmlformats.org/officeDocument/2006/relationships/notesMaster" Target="/ppt/notesMasters/notesMaster1.xml" Id="R7195de654fa341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del proyecto basada en la consigna oficial del TPO de Ajedrez y en el código del repositorio. El alcance requerido y el opcional se distinguen en la diapositiva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consigna oficial TPO_Ingenieria de Software_Dominio Ajedrez.docx, secciones de requisitos funcionales y funcionalidades opcionales. La presentación enumera solo funciones verificadas en el código.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deck 1. Unidad 01_ Ingeniería y Diseño, 6 Aug 2026, slides 10–18; consigna oficial sobre independencia del núcleo; implementación en ajedrez/nucleo y ajedrez/adaptadores/consola.py.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código fuente del proyecto y docs/generar_uml.py. El criterio de revisar UML junto con el código aparece en la nota de clase Clase 6 17-09-2026 y en el deck 0.1 Unidad 00_ Tipos de Arquitectura, 17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implementación de Partida en ajedrez/nucleo/partida.py; clase 10 Sep, deck 4. Unidad 01_ Testing, TDD y TPO, slides 15–20, que trabaja las reglas del ajedrez y el testeo del núcleo.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test test_no_se_puede_capturar_al_rey_rival en tests/test_nucleo.py; implementación de Partida; deck 4. Unidad 01_ Testing, TDD y TPO, 10 Sep 2026, slides 5–9 sobre pruebas del núcleo y TDD.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decisiones observables en el código y documento decisiones-de-diseno.docx; consigna oficial, apartado de justificación; deck 2. Unidad 01_ SOLID, DI y Composition, 20 Aug 2026, slides 2, 9–10 y 18. Los patrones se justifican por su uso concreto, no por obligación.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0fba9b41147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756bbc9d5b40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564a47d83040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ed23f224eb4c1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65b896f3af4e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a9013eda6d47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98370D-1166-4675-BD74-E0F75532EC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AEF326-3323-40C4-8FA3-A9DC646396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EDF1844-F0C5-4975-BF63-C29D81FCAC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2400A1-0443-4948-8636-F251107B35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8F11F9A-B66A-487A-B7B6-E6DF5E3BC2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F9460F-7DD9-4C7C-A09C-4BA77D36B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263251-9A78-4AC8-B641-911CCFA30C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E8F69D4-D58D-4C7D-AC37-7B5459903E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B5413B-3BB8-46DD-9FBF-38A647BE8A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D97C52-64B5-44C6-BD49-AACF1BA52B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9f569559dd46b1" /><Relationship Type="http://schemas.openxmlformats.org/officeDocument/2006/relationships/slideLayout" Target="/ppt/slideLayouts/slideLayout1.xml" Id="R6d96c7831a754e66" /><Relationship Type="http://schemas.openxmlformats.org/officeDocument/2006/relationships/slideLayout" Target="/ppt/slideLayouts/slideLayout2.xml" Id="R7b048743267f4ad4" /><Relationship Type="http://schemas.openxmlformats.org/officeDocument/2006/relationships/slideLayout" Target="/ppt/slideLayouts/slideLayout3.xml" Id="Rfcbb580ca15c401e" /><Relationship Type="http://schemas.openxmlformats.org/officeDocument/2006/relationships/slideLayout" Target="/ppt/slideLayouts/slideLayout4.xml" Id="R4cdaf7707ad740df" /><Relationship Type="http://schemas.openxmlformats.org/officeDocument/2006/relationships/slideLayout" Target="/ppt/slideLayouts/slideLayout5.xml" Id="R322849798ebd4fc0" /><Relationship Type="http://schemas.openxmlformats.org/officeDocument/2006/relationships/slideLayout" Target="/ppt/slideLayouts/slideLayout6.xml" Id="Rc4010d1f2cea44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96c7831a754e66"/>
    <p:sldLayoutId xmlns:r="http://schemas.openxmlformats.org/officeDocument/2006/relationships" id="2147483650" r:id="R7b048743267f4ad4"/>
    <p:sldLayoutId xmlns:r="http://schemas.openxmlformats.org/officeDocument/2006/relationships" id="2147483651" r:id="Rfcbb580ca15c401e"/>
    <p:sldLayoutId xmlns:r="http://schemas.openxmlformats.org/officeDocument/2006/relationships" id="2147483652" r:id="R4cdaf7707ad740df"/>
    <p:sldLayoutId xmlns:r="http://schemas.openxmlformats.org/officeDocument/2006/relationships" id="2147483653" r:id="R322849798ebd4fc0"/>
    <p:sldLayoutId xmlns:r="http://schemas.openxmlformats.org/officeDocument/2006/relationships" id="2147483654" r:id="Rc4010d1f2cea44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f390a95bf242bc" /><Relationship Type="http://schemas.openxmlformats.org/officeDocument/2006/relationships/notesSlide" Target="/ppt/notesSlides/notesSlide1.xml" Id="Rb69d2ddec3ef46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329b25f9e446c2" /><Relationship Type="http://schemas.openxmlformats.org/officeDocument/2006/relationships/notesSlide" Target="/ppt/notesSlides/notesSlide2.xml" Id="Rf1ebf51d21f547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9517fa80d647f8" /><Relationship Type="http://schemas.openxmlformats.org/officeDocument/2006/relationships/notesSlide" Target="/ppt/notesSlides/notesSlide3.xml" Id="Rb0e53dcc518445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2f73a9d07a4e4b" /><Relationship Type="http://schemas.openxmlformats.org/officeDocument/2006/relationships/notesSlide" Target="/ppt/notesSlides/notesSlide4.xml" Id="R85ef6ada07c648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f3c6d4b8fd49e1" /><Relationship Type="http://schemas.openxmlformats.org/officeDocument/2006/relationships/notesSlide" Target="/ppt/notesSlides/notesSlide5.xml" Id="Rbf39338e623445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5702208e664c75" /><Relationship Type="http://schemas.openxmlformats.org/officeDocument/2006/relationships/notesSlide" Target="/ppt/notesSlides/notesSlide6.xml" Id="R4025a900508d47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c3e81d82a640c4" /><Relationship Type="http://schemas.openxmlformats.org/officeDocument/2006/relationships/notesSlide" Target="/ppt/notesSlides/notesSlide7.xml" Id="R119776ce1ca94c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8F89D-3A78-4792-B7F3-A8B56F7C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DFE99-C0C2-47F2-846A-D92F0607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TPO de Ajedrez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8D8FB-B7FF-43B5-9CA6-C015B351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250" b="0">
                <a:solidFill>
                  <a:srgbClr val="B8DDE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B8DDE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B8DDE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B8DDE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B8DDE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B8DDE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B8DDE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B8DDE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B8DDE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B8DDE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B8DDE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8DDE0"/>
                </a:solidFill>
                <a:latin typeface="Arial"/>
                <a:ea typeface="Arial"/>
                <a:cs typeface="Arial"/>
              </a:rPr>
              <a:t>Ingeniería de Software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DFD72-6FF5-4463-BEE7-2CCBD1BE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1A804-6411-4E9E-9277-7390D2A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Reglas claras, núcleo testeable y decisiones justificadas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BA623-D3CC-4677-A188-80F0B871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C5D0D5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C5D0D5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C5D0D5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C5D0D5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C5D0D5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C5D0D5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C5D0D5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C5D0D5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C5D0D5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C5D0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5D0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5D0D5"/>
                </a:solidFill>
                <a:latin typeface="Arial"/>
                <a:ea typeface="Arial"/>
                <a:cs typeface="Arial"/>
              </a:rPr>
              <a:t>Proyecto académico · 2026</a:t>
            </a:r>
          </a:p>
        </p:txBody>
      </p:sp>
    </p:spTree>
    <p:extLst>
      <p:ext uri="{BB962C8B-B14F-4D97-AF65-F5344CB8AC3E}">
        <p14:creationId xmlns:p14="http://schemas.microsoft.com/office/powerpoint/2010/main" val="1618113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EF0C0-7F01-4619-9660-4C65F6B8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EA6F1-A829-4C8A-99D0-85B23208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Alcance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B85FF-963C-4FAA-B67F-05DE3683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10CF4-D7E8-4D48-8DF5-E8221DF9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A3A3A"/>
                </a:solidFill>
                <a:latin typeface="Arial"/>
                <a:ea typeface="Arial"/>
                <a:cs typeface="Arial"/>
              </a:rPr>
              <a:t>02  ·  TPO AJEDREZ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01BA0-09CC-484F-BD8F-E3FA04F0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Requisitos obligatorios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8E592-96AE-44C1-A86D-1F8DCCD7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Tablero 8×8 y seis piezas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Reglas de movimiento y capturas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Turnos alternados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Rechazo de jugadas inválidas</a:t>
            </a:r>
          </a:p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Detección de jaque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5CCEF-1381-40AE-9AF6-6BA5CC4B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4780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0BD2A-9832-4908-8BA1-7495A3A6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47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55555"/>
                </a:solidFill>
                <a:latin typeface="Arial"/>
                <a:ea typeface="Arial"/>
                <a:cs typeface="Arial"/>
              </a:rPr>
              <a:t>Implementado además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70EC6-6A32-4C9C-8B75-AD0F4B68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Jaque 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Ampliaciones opcionales que no se atribuyen a esta versión: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Enroque · captura al paso · promoción · tablas · IA · deshacer/rehacer · interfaz gráfica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36C99-6052-44DC-8AEB-6714F3E5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A3A3A"/>
                </a:solidFill>
                <a:latin typeface="Arial"/>
                <a:ea typeface="Arial"/>
                <a:cs typeface="Arial"/>
              </a:rPr>
              <a:t>La consigna permite estas ampliaciones; no las convierte en condiciones de aprobación.</a:t>
            </a:r>
          </a:p>
        </p:txBody>
      </p:sp>
    </p:spTree>
    <p:extLst>
      <p:ext uri="{BB962C8B-B14F-4D97-AF65-F5344CB8AC3E}">
        <p14:creationId xmlns:p14="http://schemas.microsoft.com/office/powerpoint/2010/main" val="5406739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3324A-4087-45F2-B75C-87EFF4E9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23EB1-029E-4142-B21C-5E84036E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Arquitectura del núcleo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0A7B6-04C5-4F21-803E-865BE9D0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AFEFB-95A9-4FB2-90C1-2EBD7E57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A3A3A"/>
                </a:solidFill>
                <a:latin typeface="Arial"/>
                <a:ea typeface="Arial"/>
                <a:cs typeface="Arial"/>
              </a:rPr>
              <a:t>03  ·  TPO AJEDREZ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C74BB-94AB-4945-9552-98CA94B6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620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A3A3A"/>
                </a:solidFill>
                <a:latin typeface="Arial"/>
                <a:ea typeface="Arial"/>
                <a:cs typeface="Arial"/>
              </a:rPr>
              <a:t>La consola traduce entradas. El núcleo decide si una jugada es válida.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116B2-57D2-4C0E-80BE-E9B6E789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34290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145B1-DB0D-483F-8450-21601D18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52700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Adaptador de consola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A84BB-6C40-4273-956C-C7AED05C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2420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Lee coordenadas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Muestra tablero y mensajes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5A016-F220-4127-9D2D-D9FEA726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286000"/>
            <a:ext cx="34290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4B54E-7750-47EA-AD9E-C1F21393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52700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Núcleo de ajedrez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55F2C-5E47-4FDA-BF78-A81ED07D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2809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Partida · Tablero · Piezas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Movimientos · Jaque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A5E54-4938-4155-8A88-278C9EA8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86100"/>
            <a:ext cx="276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8F00C-E427-4878-98A1-0BE8E72D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47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A3A3A"/>
                </a:solidFill>
                <a:latin typeface="Arial"/>
                <a:ea typeface="Arial"/>
                <a:cs typeface="Arial"/>
              </a:rPr>
              <a:t>entrada / resultado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B270A3-2E54-47E5-84B9-54B1FA96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Las dependencias del dominio no apuntan a la consola. Por eso el núcleo se prueba sin interfaz.</a:t>
            </a:r>
          </a:p>
        </p:txBody>
      </p:sp>
    </p:spTree>
    <p:extLst>
      <p:ext uri="{BB962C8B-B14F-4D97-AF65-F5344CB8AC3E}">
        <p14:creationId xmlns:p14="http://schemas.microsoft.com/office/powerpoint/2010/main" val="16864046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BBA02F-F9A9-4589-9114-A6E4D0E4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E8809-0E0D-4C17-815A-5962B66A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UML y código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7E604-5F13-42E9-AABE-DF8DEEF7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ACA08-F9E7-47E7-A274-5AF0FFB2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A3A3A"/>
                </a:solidFill>
                <a:latin typeface="Arial"/>
                <a:ea typeface="Arial"/>
                <a:cs typeface="Arial"/>
              </a:rPr>
              <a:t>04  ·  TPO AJEDREZ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836D8-5AD7-4966-A37C-823EB648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049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A3A3A"/>
                </a:solidFill>
                <a:latin typeface="Arial"/>
                <a:ea typeface="Arial"/>
                <a:cs typeface="Arial"/>
              </a:rPr>
              <a:t>Fragmento de clases; el UML completo está en docs/diagrama_clases.svg.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F32F5-0ACF-443F-BFA6-071C10E9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02A89-A9EA-4802-9F57-970A5A4E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28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D7DC6-7790-4E10-8695-09033FA6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240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turno · historial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 y ejecuta jugadas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4DC72-9809-4357-9C67-A2369E74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167F7-FDC3-4475-88C3-637C15FA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28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Tablero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BD503-E95D-4574-8C58-87936F88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47950"/>
            <a:ext cx="240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posiciones → piezas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consulta y mueve piezas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ACF0A-8B7F-4ECF-8D05-6D83B153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764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7C84A-EC2B-41AF-B0F6-9EF22EFF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28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Catálogo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DFC1B-5881-4A26-89C5-06444B50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47950"/>
            <a:ext cx="240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crea piezas por nombre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permite registrar tipos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B8EBC-112B-43A7-9F37-B65572A0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957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9B95D-0AA0-4684-899F-A1060765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Pieza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9530BC-29D3-4790-B960-6908F51D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67250"/>
            <a:ext cx="240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 mueve y ataca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compone reglas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40C8A-DBF2-432F-AC71-AA4BD920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957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BA0A99-4482-4B36-8D30-4C496DCF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4815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ReglaDeMovimiento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F2056-0821-4E93-B4DC-15BB042B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67250"/>
            <a:ext cx="240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deslizante · salto</a:t>
            </a:r>
          </a:p>
          <a:p xmlns:a="http://schemas.openxmlformats.org/drawingml/2006/main">
            <a:pPr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avance de peón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76DF78-10F2-4FF3-A046-9439FE08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8605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2AFDF7-F660-4CBA-A4EB-12F3EEED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2B67C7-3A90-47FD-826B-2214F65F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5B7A06-370B-430F-B485-3DAADC55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14750"/>
            <a:ext cx="1924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6A93EB-D233-4192-9ED3-F6A3B02C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147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C3C7C8-A3E2-4A62-BC93-7A4F85BA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2440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9A64D1-679B-4FA2-B5B0-6F2ED24C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479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A3A3A"/>
                </a:solidFill>
                <a:latin typeface="Arial"/>
                <a:ea typeface="Arial"/>
                <a:cs typeface="Arial"/>
              </a:rPr>
              <a:t>usa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9B90B9-0730-426C-BC69-3DBD1291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479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A3A3A"/>
                </a:solidFill>
                <a:latin typeface="Arial"/>
                <a:ea typeface="Arial"/>
                <a:cs typeface="Arial"/>
              </a:rPr>
              <a:t>usa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ECE25D-B1EF-4DEC-85C7-59C15CE3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766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A3A3A"/>
                </a:solidFill>
                <a:latin typeface="Arial"/>
                <a:ea typeface="Arial"/>
                <a:cs typeface="Arial"/>
              </a:rPr>
              <a:t>contiene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B8FD1B-08D9-41AC-B92A-134BF39E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38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A3A3A"/>
                </a:solidFill>
                <a:latin typeface="Arial"/>
                <a:ea typeface="Arial"/>
                <a:cs typeface="Arial"/>
              </a:rPr>
              <a:t>combina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EA3D75-AA72-467D-87DE-2B8D81CA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A3A3A"/>
                </a:solidFill>
                <a:latin typeface="Arial"/>
                <a:ea typeface="Arial"/>
                <a:cs typeface="Arial"/>
              </a:rPr>
              <a:t>El diagrama completo se regenera desde el código con docs/generar_uml.py.</a:t>
            </a:r>
          </a:p>
        </p:txBody>
      </p:sp>
    </p:spTree>
    <p:extLst>
      <p:ext uri="{BB962C8B-B14F-4D97-AF65-F5344CB8AC3E}">
        <p14:creationId xmlns:p14="http://schemas.microsoft.com/office/powerpoint/2010/main" val="9883891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218AC9-9A5B-4E8E-A19E-3E34B662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EA8C3-AC7F-4C52-969D-B93336CD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Cómo se valida una jugada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2D6FB-2AFF-4A19-8D29-61BE2012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DD274-712E-41B0-9691-AAB49EB4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A3A3A"/>
                </a:solidFill>
                <a:latin typeface="Arial"/>
                <a:ea typeface="Arial"/>
                <a:cs typeface="Arial"/>
              </a:rPr>
              <a:t>05  ·  TPO AJEDREZ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1CBC4-6AB5-4FC2-A400-683D0625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7429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D9BC8-19A2-42FA-AF78-5100F208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5C387-3E49-4FC2-901F-74306BFF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4573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Pieza y turno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91FEB-9514-4984-AB0B-C7202097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81175"/>
            <a:ext cx="909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A3A3A"/>
                </a:solidFill>
                <a:latin typeface="Arial"/>
                <a:ea typeface="Arial"/>
                <a:cs typeface="Arial"/>
              </a:rPr>
              <a:t>¿Hay una pieza propia en el origen?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BE7FE-B042-4886-880D-06CD0F1E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7429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4AB31-E941-4AE3-B4B1-884EFF71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9A0B7-583F-443C-AB20-D955FA59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24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Movimiento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1D887-A25C-4A06-B9B7-F4C12FA7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847975"/>
            <a:ext cx="909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A3A3A"/>
                </a:solidFill>
                <a:latin typeface="Arial"/>
                <a:ea typeface="Arial"/>
                <a:cs typeface="Arial"/>
              </a:rPr>
              <a:t>¿El destino respeta su patrón y el camino?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5B529-5ACB-47A0-9807-3AD2666E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7429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2AA62-603E-427E-887A-0CBCA233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121342-B600-400F-BB52-66F5B95E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590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Seguridad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8A65C-A262-4DF4-B7CB-55B897C7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14775"/>
            <a:ext cx="909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A3A3A"/>
                </a:solidFill>
                <a:latin typeface="Arial"/>
                <a:ea typeface="Arial"/>
                <a:cs typeface="Arial"/>
              </a:rPr>
              <a:t>¿La jugada deja al rey propio a salvo?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6FB7DB-68AF-47E0-AD1F-59B60157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76775"/>
            <a:ext cx="7429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C800C3-8905-4E9C-B674-F0C58AFF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76775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D84A33-3E82-48B5-A371-2975E577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577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864E59-3820-4349-A8E8-C9B916CA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81575"/>
            <a:ext cx="909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A3A3A"/>
                </a:solidFill>
                <a:latin typeface="Arial"/>
                <a:ea typeface="Arial"/>
                <a:cs typeface="Arial"/>
              </a:rPr>
              <a:t>Mover, registrar captura, cambiar turno y revisar jaque.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78BEA-1CC1-44C1-97DF-E9A668ED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91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 seguridad se comprueba sobre una copia del tablero; un intento inválido no altera la partida.</a:t>
            </a:r>
          </a:p>
        </p:txBody>
      </p:sp>
    </p:spTree>
    <p:extLst>
      <p:ext uri="{BB962C8B-B14F-4D97-AF65-F5344CB8AC3E}">
        <p14:creationId xmlns:p14="http://schemas.microsoft.com/office/powerpoint/2010/main" val="11155021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AFB0D-1310-4153-A023-A0F8CD8F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31463-396A-4C98-BE40-D1B389AB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Corrección y evidencia de pruebas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91DCA-EA10-43D7-9058-1BB0576D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07BA1-5432-429A-A819-4AD474EB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A3A3A"/>
                </a:solidFill>
                <a:latin typeface="Arial"/>
                <a:ea typeface="Arial"/>
                <a:cs typeface="Arial"/>
              </a:rPr>
              <a:t>06  ·  TPO AJEDREZ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A8BF1-F27E-49F8-BF82-22E0B492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6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6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6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6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6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6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6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6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6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6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78F6B-7BA6-4ED3-8157-82520AB8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tests aprobados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2AE22-6D06-44B4-A992-A74BD8EF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621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50"/>
          </a:bodyPr>
          <a:lstStyle xmlns:a="http://schemas.openxmlformats.org/drawingml/2006/main">
            <a:def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 prueba nueva encontró el defecto antes de corregirlo.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71161-559B-4CE5-B09C-66504B10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6858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Antes: la torre podía incluir la casilla del rey rival como destino legal.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Ahora: el rey no puede capturarse; jaque mate determina el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 prueba verifica que el movimiento se rechaza, el rey permanece y no cambian turno ni historial.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77ED8-EA80-40E9-BBF3-A6D9BB8C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10048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733D6-D045-443F-B0BA-78C40602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Verificación reproducible: python -m unittest -v</a:t>
            </a:r>
          </a:p>
        </p:txBody>
      </p:sp>
    </p:spTree>
    <p:extLst>
      <p:ext uri="{BB962C8B-B14F-4D97-AF65-F5344CB8AC3E}">
        <p14:creationId xmlns:p14="http://schemas.microsoft.com/office/powerpoint/2010/main" val="14167432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D1D3BC-0DA2-49A6-BD08-6516486F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C7474-DA8F-4039-91FD-6172D95F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Decisiones que podemos defender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8C5DC-28BD-4F35-9862-CF887B8C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6B99C-A28B-44AB-BFCD-893EEE76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A3A3A"/>
                </a:solidFill>
                <a:latin typeface="Arial"/>
                <a:ea typeface="Arial"/>
                <a:cs typeface="Arial"/>
              </a:rPr>
              <a:t>07  ·  TPO AJEDREZ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C3F56-193C-40FE-B482-D97DAF38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Separar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05B3C-9460-4B37-B295-FD4F6714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Reglas aparte de entrada/salida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D02D9-E550-4CC6-8FA9-CF0DCE3C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A3A3A"/>
                </a:solidFill>
                <a:latin typeface="Arial"/>
                <a:ea typeface="Arial"/>
                <a:cs typeface="Arial"/>
              </a:rPr>
              <a:t>Permite probar el dominio sin consola.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6EE21-2D6F-40D6-A400-079A0C51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657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5F54F-92AE-4449-BD2E-DDA4B18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0955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Piezas con reglas de movimiento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542C6-E146-4D3A-9FC4-9780D68A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8575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A3A3A"/>
                </a:solidFill>
                <a:latin typeface="Arial"/>
                <a:ea typeface="Arial"/>
                <a:cs typeface="Arial"/>
              </a:rPr>
              <a:t>Reutiliza comportamientos y facilita extensiones.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8A761-A76B-44F8-A115-5AB6E3A5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57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Inyectar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DF5F45-3816-46F4-A65F-03F25581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Catálogo y disposición inicial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5ACCB-9D9A-4DB3-B6DA-EA0C0590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A3A3A"/>
                </a:solidFill>
                <a:latin typeface="Arial"/>
                <a:ea typeface="Arial"/>
                <a:cs typeface="Arial"/>
              </a:rPr>
              <a:t>Hace explícitas las variantes y simplifica pruebas.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6549B-8A46-44DC-B410-EAAAC614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657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Simular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C1CF1-CD72-4762-965C-001B574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955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Probar el movimiento en una copia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6D7B4-F53C-4600-82AA-71964096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85750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A3A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A3A3A"/>
                </a:solidFill>
                <a:latin typeface="Arial"/>
                <a:ea typeface="Arial"/>
                <a:cs typeface="Arial"/>
              </a:rPr>
              <a:t>Evita alterar el estado real al validar.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48455-A691-4E5F-AE6E-D9D5CCD6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01414-6A3E-439A-ADE5-D826AD87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Cada decisión tiene un costo y un límite; el detalle completo está en la justificación.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622EF-6DE1-4252-9C7C-FC757E12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 consigna pide explicar qué elegimos, por qué y cuándo dejaría de convenir.</a:t>
            </a:r>
          </a:p>
        </p:txBody>
      </p:sp>
    </p:spTree>
    <p:extLst>
      <p:ext uri="{BB962C8B-B14F-4D97-AF65-F5344CB8AC3E}">
        <p14:creationId xmlns:p14="http://schemas.microsoft.com/office/powerpoint/2010/main" val="1377539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2026-10-22T21:42:52.5180000Z</dcterms:created>
  <dcterms:modified xsi:type="dcterms:W3CDTF">2026-10-22T21:42:52.5180000Z</dcterms:modified>
</coreProperties>
</file>