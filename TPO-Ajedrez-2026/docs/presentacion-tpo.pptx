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8e0ed950d08411a" Type="http://schemas.openxmlformats.org/officeDocument/2006/relationships/extended-properties" Target="docProps/app.xml"/><Relationship Id="R2ef641a45bc94c4a" Type="http://schemas.openxmlformats.org/package/2006/relationships/metadata/core-properties" Target="docProps/core.xml"/><Relationship Id="Rb7b2fa214496411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a6ecf4b9a14638"/>
  </p:sldMasterIdLst>
  <p:notesMasterIdLst>
    <p:notesMasterId xmlns:r="http://schemas.openxmlformats.org/officeDocument/2006/relationships" r:id="Re1ff0a48fef9451d"/>
  </p:notesMasterIdLst>
  <p:sldIdLst>
    <p:sldId xmlns:r="http://schemas.openxmlformats.org/officeDocument/2006/relationships" id="256" r:id="R81b19bea959a4f30"/>
    <p:sldId xmlns:r="http://schemas.openxmlformats.org/officeDocument/2006/relationships" id="257" r:id="R0edfac2b4d524a3d"/>
    <p:sldId xmlns:r="http://schemas.openxmlformats.org/officeDocument/2006/relationships" id="258" r:id="R5039f1eed3a74947"/>
    <p:sldId xmlns:r="http://schemas.openxmlformats.org/officeDocument/2006/relationships" id="259" r:id="R9a9b6918ebb94295"/>
    <p:sldId xmlns:r="http://schemas.openxmlformats.org/officeDocument/2006/relationships" id="260" r:id="R530f711ffb4a474d"/>
    <p:sldId xmlns:r="http://schemas.openxmlformats.org/officeDocument/2006/relationships" id="261" r:id="R3f731650e9fa4512"/>
    <p:sldId xmlns:r="http://schemas.openxmlformats.org/officeDocument/2006/relationships" id="262" r:id="R3c18b12e5e054791"/>
    <p:sldId xmlns:r="http://schemas.openxmlformats.org/officeDocument/2006/relationships" id="263" r:id="R691f392216224b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edfac2b4d524a3d" Type="http://schemas.openxmlformats.org/officeDocument/2006/relationships/slide" Target="slides/slide2.xml"/><Relationship Id="R3c18b12e5e054791" Type="http://schemas.openxmlformats.org/officeDocument/2006/relationships/slide" Target="slides/slide7.xml"/><Relationship Id="R3f731650e9fa4512" Type="http://schemas.openxmlformats.org/officeDocument/2006/relationships/slide" Target="slides/slide6.xml"/><Relationship Id="R5039f1eed3a74947" Type="http://schemas.openxmlformats.org/officeDocument/2006/relationships/slide" Target="slides/slide3.xml"/><Relationship Id="R50c5c49093c94b77" Type="http://schemas.openxmlformats.org/officeDocument/2006/relationships/tableStyles" Target="tableStyles.xml"/><Relationship Id="R530f711ffb4a474d" Type="http://schemas.openxmlformats.org/officeDocument/2006/relationships/slide" Target="slides/slide5.xml"/><Relationship Id="R691f392216224be6" Type="http://schemas.openxmlformats.org/officeDocument/2006/relationships/slide" Target="slides/slide8.xml"/><Relationship Id="R81b19bea959a4f30" Type="http://schemas.openxmlformats.org/officeDocument/2006/relationships/slide" Target="slides/slide1.xml"/><Relationship Id="R8521486a967b4d1d" Type="http://schemas.openxmlformats.org/officeDocument/2006/relationships/presProps" Target="presProps.xml"/><Relationship Id="R918f5b25a2904a9d" Type="http://schemas.openxmlformats.org/officeDocument/2006/relationships/theme" Target="theme/theme1.xml"/><Relationship Id="R9a9b6918ebb94295" Type="http://schemas.openxmlformats.org/officeDocument/2006/relationships/slide" Target="slides/slide4.xml"/><Relationship Id="Re1a6ecf4b9a14638" Type="http://schemas.openxmlformats.org/officeDocument/2006/relationships/slideMaster" Target="slideMasters/slideMaster1.xml"/><Relationship Id="Re1ff0a48fef9451d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404a9b3d669f442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8e9e9962739348e8" Type="http://schemas.openxmlformats.org/officeDocument/2006/relationships/notesMaster" Target="../notesMasters/notesMaster1.xml"/><Relationship Id="Rf0fb167245f14a67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69f30b5a3ea4b04" Type="http://schemas.openxmlformats.org/officeDocument/2006/relationships/notesMaster" Target="../notesMasters/notesMaster1.xml"/><Relationship Id="R9ea3dede14e8477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a6d9ed626454a99" Type="http://schemas.openxmlformats.org/officeDocument/2006/relationships/notesMaster" Target="../notesMasters/notesMaster1.xml"/><Relationship Id="Rcd8aeb672c5040fc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454094f3afca45d4" Type="http://schemas.openxmlformats.org/officeDocument/2006/relationships/slide" Target="../slides/slide4.xml"/><Relationship Id="Rcf30764b7ad2472f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a2dcc96cd60499a" Type="http://schemas.openxmlformats.org/officeDocument/2006/relationships/slide" Target="../slides/slide5.xml"/><Relationship Id="Rbec9d025e3624d39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0e9228752404d3f" Type="http://schemas.openxmlformats.org/officeDocument/2006/relationships/slide" Target="../slides/slide6.xml"/><Relationship Id="R5ec49917f38f4b3a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16757a9e5384d7a" Type="http://schemas.openxmlformats.org/officeDocument/2006/relationships/slide" Target="../slides/slide7.xml"/><Relationship Id="Rcd4fbd5af9cf432a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aa789e7fc856435e" Type="http://schemas.openxmlformats.org/officeDocument/2006/relationships/notesMaster" Target="../notesMasters/notesMaster1.xml"/><Relationship Id="Rb2b05b0130e24a3f" Type="http://schemas.openxmlformats.org/officeDocument/2006/relationships/slide" Target="../slides/slide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Presentación del proyecto basada en la consigna oficial del TPO de Ajedrez y en el código del repositorio. El alcance requerido y el opcional se distinguen en la diapositiva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consigna oficial TPO_Ingenieria de Software_Dominio Ajedrez.docx, secciones de requisitos funcionales y funcionalidades opcionales. La presentación enumera solo funciones verificadas en el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deck 1. Unidad 01_ Ingeniería y Diseño, 6 Aug 2026, slides 10–18; consigna oficial sobre independencia del núcleo; implementación en ajedrez/nucleo y ajedrez/adaptadores/consola.py.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código fuente del proyecto y docs/generar_uml.py. El criterio de revisar UML junto con el código aparece en la nota de clase Clase 6 17-09-2026 y en el deck 0.1 Unidad 00_ Tipos de Arquitectura, 17 Sep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implementación de Partida en ajedrez/nucleo/partida.py; clase 10 Sep, deck 4. Unidad 01_ Testing, TDD y TPO, slides 15–20, que trabaja las reglas del ajedrez y el testeo del núcleo.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test test_no_se_puede_capturar_al_rey_rival en tests/test_nucleo.py; implementación de Partida; deck 4. Unidad 01_ Testing, TDD y TPO, 10 Sep 2026, slides 5–9 sobre pruebas del núcleo y TDD.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decisiones observables en el código y documento decisiones-de-diseno.docx; consigna oficial, apartado de justificación; deck 2. Unidad 01_ SOLID, DI y Composition, 20 Aug 2026, slides 2, 9–10 y 18. Los patrones se justifican por su uso concreto, no por obligación.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Unidad 5, Gobernanza de IT: políticas, normativas y gestión de riesgos, diapositivas 19 y 21–22; Unidad 6, Auditoría, métricas, KPIs, ética e integridad, diapositivas 13 y 24–25. Evidencia del proyecto: README.md, ajedrez/nucleo/partida.py y tests/test_nucleo.py. El registro y los indicadores son propuestas para la defensa académica, no métricas de producción.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6ccb0b261779439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a94e64535324ca7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d079f78d6183470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4de5f303f484b0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db6298ff40e49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a4095e2af09439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98370D-1166-4675-BD74-E0F75532EC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AEF326-3323-40C4-8FA3-A9DC646396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EDF1844-F0C5-4975-BF63-C29D81FCAC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2400A1-0443-4948-8636-F251107B35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8F11F9A-B66A-487A-B7B6-E6DF5E3BC2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EF9460F-7DD9-4C7C-A09C-4BA77D36BB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263251-9A78-4AC8-B641-911CCFA30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E8F69D4-D58D-4C7D-AC37-7B5459903E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B5413B-3BB8-46DD-9FBF-38A647BE8A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6D97C52-64B5-44C6-BD49-AACF1BA52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18b06a218094fdd" Type="http://schemas.openxmlformats.org/officeDocument/2006/relationships/slideLayout" Target="../slideLayouts/slideLayout3.xml"/><Relationship Id="R9f8c71cafdd44b55" Type="http://schemas.openxmlformats.org/officeDocument/2006/relationships/slideLayout" Target="../slideLayouts/slideLayout1.xml"/><Relationship Id="Raa731c8f36064b58" Type="http://schemas.openxmlformats.org/officeDocument/2006/relationships/slideLayout" Target="../slideLayouts/slideLayout5.xml"/><Relationship Id="Rac813d21e73544fc" Type="http://schemas.openxmlformats.org/officeDocument/2006/relationships/slideLayout" Target="../slideLayouts/slideLayout6.xml"/><Relationship Id="Rccf88cbb96bc4b73" Type="http://schemas.openxmlformats.org/officeDocument/2006/relationships/theme" Target="theme/theme2.xml"/><Relationship Id="Rdbcfdd277de54b1f" Type="http://schemas.openxmlformats.org/officeDocument/2006/relationships/slideLayout" Target="../slideLayouts/slideLayout2.xml"/><Relationship Id="Rfe6ce6bcbc964544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8c71cafdd44b55"/>
    <p:sldLayoutId xmlns:r="http://schemas.openxmlformats.org/officeDocument/2006/relationships" id="2147483650" r:id="Rdbcfdd277de54b1f"/>
    <p:sldLayoutId xmlns:r="http://schemas.openxmlformats.org/officeDocument/2006/relationships" id="2147483651" r:id="R618b06a218094fdd"/>
    <p:sldLayoutId xmlns:r="http://schemas.openxmlformats.org/officeDocument/2006/relationships" id="2147483652" r:id="Rfe6ce6bcbc964544"/>
    <p:sldLayoutId xmlns:r="http://schemas.openxmlformats.org/officeDocument/2006/relationships" id="2147483653" r:id="Raa731c8f36064b58"/>
    <p:sldLayoutId xmlns:r="http://schemas.openxmlformats.org/officeDocument/2006/relationships" id="2147483654" r:id="Rac813d21e73544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b6315424d45490c" Type="http://schemas.openxmlformats.org/officeDocument/2006/relationships/slideLayout" Target="../slideLayouts/slideLayout6.xml"/><Relationship Id="R8eed05c4f92f433c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b3b8c3bd059a4744" Type="http://schemas.openxmlformats.org/officeDocument/2006/relationships/notesSlide" Target="../notesSlides/notesSlide2.xml"/><Relationship Id="Rc22e780263c345d2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5a0d6e37b7224340" Type="http://schemas.openxmlformats.org/officeDocument/2006/relationships/slideLayout" Target="../slideLayouts/slideLayout6.xml"/><Relationship Id="Re1fd9f91aa2546c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943d33ca95c4dd1" Type="http://schemas.openxmlformats.org/officeDocument/2006/relationships/slideLayout" Target="../slideLayouts/slideLayout6.xml"/><Relationship Id="R4c37aefb02cb42c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80a0e8a3f4104c5d" Type="http://schemas.openxmlformats.org/officeDocument/2006/relationships/notesSlide" Target="../notesSlides/notesSlide5.xml"/><Relationship Id="Ra28d32d3eb194fe9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2739aa8281d449b7" Type="http://schemas.openxmlformats.org/officeDocument/2006/relationships/slideLayout" Target="../slideLayouts/slideLayout6.xml"/><Relationship Id="Rdc91088ae2c2491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1bd9ae736e604112" Type="http://schemas.openxmlformats.org/officeDocument/2006/relationships/notesSlide" Target="../notesSlides/notesSlide7.xml"/><Relationship Id="R84678cc8a45742bc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6d213012195d44e7" Type="http://schemas.openxmlformats.org/officeDocument/2006/relationships/slideLayout" Target="../slideLayouts/slideLayout6.xml"/><Relationship Id="Re14d5a40a5f24a85" Type="http://schemas.openxmlformats.org/officeDocument/2006/relationships/notesSlide" Target="../notesSlides/notesSlide8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8F89D-3A78-4792-B7F3-A8B56F7C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DFE99-C0C2-47F2-846A-D92F0607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25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TPO de Ajedrez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8D8FB-B7FF-43B5-9CA6-C015B351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B8DDE0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B8DDE0"/>
                </a:solidFill>
                <a:latin typeface="Arial"/>
                <a:ea typeface="Arial"/>
                <a:cs typeface="Arial"/>
              </a:rPr>
              <a:t>Ingeniería de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DFD72-6FF5-4463-BEE7-2CCBD1BE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1A804-6411-4E9E-9277-7390D2A2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942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Reglas claras, núcleo testeable y decisiones justificadas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BBA623-D3CC-4677-A188-80F0B871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293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C5D0D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5D0D5"/>
                </a:solidFill>
                <a:latin typeface="Arial"/>
                <a:ea typeface="Arial"/>
                <a:cs typeface="Arial"/>
              </a:rPr>
              <a:t>Proyecto académico · 2026</a:t>
            </a:r>
          </a:p>
        </p:txBody>
      </p:sp>
    </p:spTree>
    <p:extLst>
      <p:ext uri="{BB962C8B-B14F-4D97-AF65-F5344CB8AC3E}">
        <p14:creationId xmlns:p14="http://schemas.microsoft.com/office/powerpoint/2010/main" val="16181139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EF0C0-7F01-4619-9660-4C65F6B8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EA6F1-A829-4C8A-99D0-85B23208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Alcance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B85FF-963C-4FAA-B67F-05DE3683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10CF4-D7E8-4D48-8DF5-E8221DF9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02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01BA0-09CC-484F-BD8F-E3FA04F0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478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Requisitos obligatorios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8E592-96AE-44C1-A86D-1F8DCCD7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4857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Tablero 8×8 y seis piezas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Reglas de movimiento y capturas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Turnos alternados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Rechazo de jugadas inválidas</a:t>
            </a:r>
          </a:p>
          <a:p xmlns:a="http://schemas.openxmlformats.org/drawingml/2006/main">
            <a:pPr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Detección de jaque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E5CCEF-1381-40AE-9AF6-6BA5CC4B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47800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0BD2A-9832-4908-8BA1-7495A3A6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4478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555555"/>
                </a:solidFill>
                <a:latin typeface="Arial"/>
                <a:ea typeface="Arial"/>
                <a:cs typeface="Arial"/>
              </a:rPr>
              <a:t>Implementado además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70EC6-6A32-4C9C-8B75-AD0F4B68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Jaque mate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Ampliaciones opcionales que no se atribuyen a esta versión: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Enroque · captura al paso · promoción · tablas · IA · deshacer/rehacer · interfaz gráfica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336C99-6052-44DC-8AEB-6714F3E5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La consigna permite estas ampliaciones; no las convierte en condiciones de aprobación.</a:t>
            </a:r>
          </a:p>
        </p:txBody>
      </p:sp>
    </p:spTree>
    <p:extLst>
      <p:ext uri="{BB962C8B-B14F-4D97-AF65-F5344CB8AC3E}">
        <p14:creationId xmlns:p14="http://schemas.microsoft.com/office/powerpoint/2010/main" val="5406739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73324A-4087-45F2-B75C-87EFF4E9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23EB1-029E-4142-B21C-5E84036E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Arquitectura del núcleo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B0A7B6-04C5-4F21-803E-865BE9D0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AFEFB-95A9-4FB2-90C1-2EBD7E57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03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C74BB-94AB-4945-9552-98CA94B6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62075"/>
            <a:ext cx="1028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La consola traduce entradas. El núcleo decide si una jugada es válida.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116B2-57D2-4C0E-80BE-E9B6E789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86000"/>
            <a:ext cx="34290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1145B1-DB0D-483F-8450-21601D18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52700"/>
            <a:ext cx="2809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Adaptador de consola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5A84BB-6C40-4273-956C-C7AED05C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24200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Lee coordenadas</a:t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Muestra tablero y mensajes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5A016-F220-4127-9D2D-D9FEA726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286000"/>
            <a:ext cx="34290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4B54E-7750-47EA-AD9E-C1F21393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52700"/>
            <a:ext cx="2809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Núcleo de ajedrez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955F2C-5E47-4FDA-BF78-A81ED07D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24200"/>
            <a:ext cx="2809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Partida · Tablero · Piezas</a:t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Movimientos · Jaque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2A5E54-4938-4155-8A88-278C9EA8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086100"/>
            <a:ext cx="2762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18F00C-E427-4878-98A1-0BE8E72D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47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entrada / resultado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B270A3-2E54-47E5-84B9-54B1FA96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Las dependencias del dominio no apuntan a la consola. Por eso el núcleo se prueba sin interfaz.</a:t>
            </a:r>
          </a:p>
        </p:txBody>
      </p:sp>
    </p:spTree>
    <p:extLst>
      <p:ext uri="{BB962C8B-B14F-4D97-AF65-F5344CB8AC3E}">
        <p14:creationId xmlns:p14="http://schemas.microsoft.com/office/powerpoint/2010/main" val="16864046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BBA02F-F9A9-4589-9114-A6E4D0E4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E8809-0E0D-4C17-815A-5962B66A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UML y código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67E604-5F13-42E9-AABE-DF8DEEF7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EACA08-F9E7-47E7-A274-5AF0FFB2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04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836D8-5AD7-4966-A37C-823EB648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049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Fragmento de clases; el UML completo está en docs/diagrama_clases.svg.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F32F5-0ACF-443F-BFA6-071C10E9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02A89-A9EA-4802-9F57-970A5A4E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Partida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5D7DC6-7790-4E10-8695-09033FA6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479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turno · historial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valida y ejecuta jugadas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4DC72-9809-4357-9C67-A2369E74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764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6167F7-FDC3-4475-88C3-637C15FA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28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Tablero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ABD503-E95D-4574-8C58-87936F88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posiciones → piezas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consulta y mueve piezas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ACF0A-8B7F-4ECF-8D05-6D83B153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764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7C84A-EC2B-41AF-B0F6-9EF22EFF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28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Catálogo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1DFC1B-5881-4A26-89C5-06444B50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479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crea piezas por nombre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permite registrar tipos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4B8EBC-112B-43A7-9F37-B65572A09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0957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89B95D-0AA0-4684-899F-A1060765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248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Pieza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9530BC-29D3-4790-B960-6908F51D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 mueve y ataca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compone reglas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A40C8A-DBF2-432F-AC71-AA4BD920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95750"/>
            <a:ext cx="2857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BA0A99-4482-4B36-8D30-4C496DCF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481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ReglaDeMovimiento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F2056-0821-4E93-B4DC-15BB042B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6672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deslizante · salto</a:t>
            </a:r>
          </a:p>
          <a:p xmlns:a="http://schemas.openxmlformats.org/drawingml/2006/main">
            <a:pPr>
              <a:buNone/>
              <a:defRPr sz="14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avance de peón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76DF78-10F2-4FF3-A046-9439FE08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860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2AFDF7-F660-4CBA-A4EB-12F3EEED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860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2B67C7-3A90-47FD-826B-2214F65F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90900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B7A06-370B-430F-B485-3DAADC55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1924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6A93EB-D233-4192-9ED3-F6A3B02C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C3C7C8-A3E2-4A62-BC93-7A4F85BA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72440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9A64D1-679B-4FA2-B5B0-6F2ED24C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4479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usa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9B90B9-0730-426C-BC69-3DBD1291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4479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usa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ECE25D-B1EF-4DEC-85C7-59C15CE3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476625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contiene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B8FD1B-08D9-41AC-B92A-134BF39E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386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combina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EA3D75-AA72-467D-87DE-2B8D81CA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El generador usa una definición manual que debe mantenerse sincronizada con el código.</a:t>
            </a:r>
          </a:p>
        </p:txBody>
      </p:sp>
    </p:spTree>
    <p:extLst>
      <p:ext uri="{BB962C8B-B14F-4D97-AF65-F5344CB8AC3E}">
        <p14:creationId xmlns:p14="http://schemas.microsoft.com/office/powerpoint/2010/main" val="9883891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218AC9-9A5B-4E8E-A19E-3E34B662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EA8C3-AC7F-4C52-969D-B93336CD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Cómo se valida una jugada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2D6FB-2AFF-4A19-8D29-61BE2012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DD274-712E-41B0-9691-AAB49EB4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05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1CBC4-6AB5-4FC2-A400-683D0625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763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BD9BC8-19A2-42FA-AF78-5100F208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763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25C387-3E49-4FC2-901F-74306BFF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4573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Pieza y turno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91FEB-9514-4984-AB0B-C7202097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7811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¿Hay una pieza propia en el origen?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BE7FE-B042-4886-880D-06CD0F1E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431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4AB31-E941-4AE3-B4B1-884EFF71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431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9A0B7-583F-443C-AB20-D955FA59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5241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Movimiento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51D887-A25C-4A06-B9B7-F4C12FA7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8479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¿El destino respeta su patrón y el camino?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5B529-5ACB-47A0-9807-3AD2666E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22AA62-603E-427E-887A-0CBCA233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121342-B600-400F-BB52-66F5B95E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909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Seguridad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28A65C-A262-4DF4-B7CB-55B897C7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147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¿La jugada deja al rey propio a salvo?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6FB7DB-68AF-47E0-AD1F-59B60157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74295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C800C3-8905-4E9C-B674-F0C58AFF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76775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D84A33-3E82-48B5-A371-2975E577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65772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864E59-3820-4349-A8E8-C9B916CA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981575"/>
            <a:ext cx="909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Mover, registrar captura, cambiar turno y revisar jaque.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B78BEA-1CC1-44C1-97DF-E9A668ED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 seguridad se comprueba sobre una copia del tablero; un intento inválido no altera la partida.</a:t>
            </a:r>
          </a:p>
        </p:txBody>
      </p:sp>
    </p:spTree>
    <p:extLst>
      <p:ext uri="{BB962C8B-B14F-4D97-AF65-F5344CB8AC3E}">
        <p14:creationId xmlns:p14="http://schemas.microsoft.com/office/powerpoint/2010/main" val="1115502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AFB0D-1310-4153-A023-A0F8CD8F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31463-396A-4C98-BE40-D1B389AB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Corrección y evidencia de pruebas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91DCA-EA10-43D7-9058-1BB0576D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07BA1-5432-429A-A819-4AD474EB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06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A8BF1-F27E-49F8-BF82-22E0B492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2476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6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78F6B-7BA6-4ED3-8157-82520AB8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2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tests aprobados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2AE22-6D06-44B4-A992-A74BD8EF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621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850"/>
          </a:bodyPr>
          <a:lstStyle xmlns:a="http://schemas.openxmlformats.org/drawingml/2006/main">
            <a:defPPr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 prueba de regresión cubre esta regla.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671161-559B-4CE5-B09C-66504B10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66950"/>
            <a:ext cx="6858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Antes: la torre podía incluir la casilla del rey rival como destino legal.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Ahora: el rey no puede capturarse; jaque mate determina el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La prueba verifica que el movimiento se rechaza, el rey permanece y no cambian turno ni historial.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477ED8-EA80-40E9-BBF3-A6D9BB8C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81600"/>
            <a:ext cx="10048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0733D6-D045-443F-B0BA-78C40602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Verificación reproducible: python -m unittest -v</a:t>
            </a:r>
          </a:p>
        </p:txBody>
      </p:sp>
    </p:spTree>
    <p:extLst>
      <p:ext uri="{BB962C8B-B14F-4D97-AF65-F5344CB8AC3E}">
        <p14:creationId xmlns:p14="http://schemas.microsoft.com/office/powerpoint/2010/main" val="14167432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1D3BC-0DA2-49A6-BD08-6516486F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4C7474-DA8F-4039-91FD-6172D95F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Decisiones que podemos defender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8C5DC-28BD-4F35-9862-CF887B8C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6B99C-A28B-44AB-BFCD-893EEE76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07  ·  TPO AJEDREZ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C3F56-193C-40FE-B482-D97DAF38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Separar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505B3C-9460-4B37-B295-FD4F6714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Reglas aparte de entrada/salida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D02D9-E550-4CC6-8FA9-CF0DCE3C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Permite probar el dominio sin consola.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6EE21-2D6F-40D6-A400-079A0C51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Componer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65F54F-92AE-4449-BD2E-DDA4B18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Piezas con reglas de movimiento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2542C6-E146-4D3A-9FC4-9780D68A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Reutiliza comportamientos y facilita extensiones.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C8A761-A76B-44F8-A115-5AB6E3A5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Inyectar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DF5F45-3816-46F4-A65F-03F25581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Catálogo y disposición inicial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65ACCB-9D9A-4DB3-B6DA-EA0C0590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Hace explícitas las variantes y simplifica pruebas.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6549B-8A46-44DC-B410-EAAAC614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6573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Simular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C1CF1-CD72-4762-965C-001B574D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095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Probar el movimiento en una copia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B6D7B4-F53C-4600-82AA-71964096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8575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A3A3A"/>
                </a:solidFill>
                <a:latin typeface="Arial"/>
                <a:ea typeface="Arial"/>
                <a:cs typeface="Arial"/>
              </a:rPr>
              <a:t>Evita alterar el estado real al validar.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48455-A691-4E5F-AE6E-D9D5CCD6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1038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301414-6A3E-439A-ADE5-D826AD87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Cada decisión tiene un costo y un límite; el detalle completo está en la justificación.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0622EF-6DE1-4252-9C7C-FC757E12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9115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La consigna pide explicar qué elegimos, por qué y cuándo dejaría de convenir.</a:t>
            </a:r>
          </a:p>
        </p:txBody>
      </p:sp>
    </p:spTree>
    <p:extLst>
      <p:ext uri="{BB962C8B-B14F-4D97-AF65-F5344CB8AC3E}">
        <p14:creationId xmlns:p14="http://schemas.microsoft.com/office/powerpoint/2010/main" val="13775394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left-rail">
            <a:extLst xmlns:a="http://schemas.openxmlformats.org/drawingml/2006/main">
              <a:ext uri="{FF2B5EF4-FFF2-40B4-BE49-F238E27FC236}">
                <a16:creationId xmlns:a16="http://schemas.microsoft.com/office/drawing/2014/main" id="{C4C54ED0-41D6-425D-BFD7-D3454070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AEB73B-E89D-4A51-B5C7-DC1AC881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Riesgos y seguimiento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D966650D-DF02-4CF1-BB83-030F90BF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7632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isk-heading">
            <a:extLst xmlns:a="http://schemas.openxmlformats.org/drawingml/2006/main">
              <a:ext uri="{FF2B5EF4-FFF2-40B4-BE49-F238E27FC236}">
                <a16:creationId xmlns:a16="http://schemas.microsoft.com/office/drawing/2014/main" id="{26A9D80B-53F3-451A-AFC4-0C279078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Riesgos principales</a:t>
            </a:r>
          </a:p>
        </p:txBody>
      </p:sp>
      <p:sp>
        <p:nvSpPr>
          <p:cNvPr id="5" name="risk-key">
            <a:extLst xmlns:a="http://schemas.openxmlformats.org/drawingml/2006/main">
              <a:ext uri="{FF2B5EF4-FFF2-40B4-BE49-F238E27FC236}">
                <a16:creationId xmlns:a16="http://schemas.microsoft.com/office/drawing/2014/main" id="{5C48C859-0A85-47CC-A748-C5E9FAEC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P = probabilidad · I = impacto</a:t>
            </a:r>
          </a:p>
        </p:txBody>
      </p:sp>
      <p:sp>
        <p:nvSpPr>
          <p:cNvPr id="6" name="risk-list">
            <a:extLst xmlns:a="http://schemas.openxmlformats.org/drawingml/2006/main">
              <a:ext uri="{FF2B5EF4-FFF2-40B4-BE49-F238E27FC236}">
                <a16:creationId xmlns:a16="http://schemas.microsoft.com/office/drawing/2014/main" id="{7D08D77A-EFB8-42F1-A6E5-2CDAE532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481012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Reglas incorrectas — P media / I alta: pruebas por requisito.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Tests débiles — P media / I alta: revisar las aserciones.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Pérdida de código — P baja / I alta: repositorio remoto y suite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Conocimiento concentrado — P media / I media: revisión compartida.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Clave expuesta — P baja hoy / I alta: no integrar IA.</a:t>
            </a:r>
          </a:p>
        </p:txBody>
      </p:sp>
      <p:sp>
        <p:nvSpPr>
          <p:cNvPr id="7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283EDB14-B899-4058-8233-3E75DE3B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409700"/>
            <a:ext cx="14288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s-heading">
            <a:extLst xmlns:a="http://schemas.openxmlformats.org/drawingml/2006/main">
              <a:ext uri="{FF2B5EF4-FFF2-40B4-BE49-F238E27FC236}">
                <a16:creationId xmlns:a16="http://schemas.microsoft.com/office/drawing/2014/main" id="{19626D26-2A00-46D4-B355-C9ED5691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409700"/>
            <a:ext cx="5000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Meta e indicadores</a:t>
            </a:r>
          </a:p>
        </p:txBody>
      </p:sp>
      <p:sp>
        <p:nvSpPr>
          <p:cNvPr id="9" name="goal">
            <a:extLst xmlns:a="http://schemas.openxmlformats.org/drawingml/2006/main">
              <a:ext uri="{FF2B5EF4-FFF2-40B4-BE49-F238E27FC236}">
                <a16:creationId xmlns:a16="http://schemas.microsoft.com/office/drawing/2014/main" id="{28615166-F47A-4FDE-8CFA-2D3CDBF0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85950"/>
            <a:ext cx="5000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22222"/>
                </a:solidFill>
                <a:latin typeface="Arial"/>
                <a:ea typeface="Arial"/>
                <a:cs typeface="Arial"/>
              </a:rPr>
              <a:t>Meta: cumplir los requisitos obligatorios y poder verificarlo.</a:t>
            </a:r>
          </a:p>
        </p:txBody>
      </p:sp>
      <p:sp>
        <p:nvSpPr>
          <p:cNvPr id="10" name="metrics-list">
            <a:extLst xmlns:a="http://schemas.openxmlformats.org/drawingml/2006/main">
              <a:ext uri="{FF2B5EF4-FFF2-40B4-BE49-F238E27FC236}">
                <a16:creationId xmlns:a16="http://schemas.microsoft.com/office/drawing/2014/main" id="{528CCCC9-86E5-4FC6-890C-163E84AA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28875"/>
            <a:ext cx="500062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1. Cobertura: requisitos con test significativo / requisitos obligatorios × 100.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2. Suite: pruebas aprobadas / pruebas ejecutadas × 100. Última verificación: 37/37.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3. Revisión: cambios del núcleo revisados y probados / cambios del núcleo × 100.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KRI: requisitos fallidos o sin prueba significativa. Alerta si el valor supera cero.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Goodhart: no premiar la cantidad de tests; revisar qué comportamiento comprueba cada uno.</a:t>
            </a:r>
          </a:p>
        </p:txBody>
      </p:sp>
      <p:sp>
        <p:nvSpPr>
          <p:cNvPr id="11" name="policy-rule">
            <a:extLst xmlns:a="http://schemas.openxmlformats.org/drawingml/2006/main">
              <a:ext uri="{FF2B5EF4-FFF2-40B4-BE49-F238E27FC236}">
                <a16:creationId xmlns:a16="http://schemas.microsoft.com/office/drawing/2014/main" id="{6A3B6D69-FA58-4CDF-BE1C-47AC17F1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15000"/>
            <a:ext cx="10477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i-policy">
            <a:extLst xmlns:a="http://schemas.openxmlformats.org/drawingml/2006/main">
              <a:ext uri="{FF2B5EF4-FFF2-40B4-BE49-F238E27FC236}">
                <a16:creationId xmlns:a16="http://schemas.microsoft.com/office/drawing/2014/main" id="{35D81E00-D2D1-44BC-87AA-42E62C0A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defPPr>
            <a:lvl1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1pPr>
            <a:lvl2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2pPr>
            <a:lvl3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3pPr>
            <a:lvl4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4pPr>
            <a:lvl5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5pPr>
            <a:lvl6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6pPr>
            <a:lvl7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7pPr>
            <a:lvl8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8pPr>
            <a:lvl9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IA: no se integra en esta versión. El código asistido se entiende, revisa y prueba; no se comparten secretos ni datos personales.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49554790-A20B-4965-AC07-D44C9B93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29375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3A3A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A3A3A"/>
                </a:solidFill>
                <a:latin typeface="Arial"/>
                <a:ea typeface="Arial"/>
                <a:cs typeface="Arial"/>
              </a:rPr>
              <a:t>08  ·  TPO AJEDREZ</a:t>
            </a:r>
          </a:p>
        </p:txBody>
      </p:sp>
    </p:spTree>
    <p:extLst>
      <p:ext uri="{BB962C8B-B14F-4D97-AF65-F5344CB8AC3E}">
        <p14:creationId xmlns:p14="http://schemas.microsoft.com/office/powerpoint/2010/main" val="19890179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2026-10-23T01:35:19.7340000Z</dcterms:created>
  <dcterms:modified xsi:type="dcterms:W3CDTF">2026-10-23T01:35:19.7340000Z</dcterms:modified>
</coreProperties>
</file>